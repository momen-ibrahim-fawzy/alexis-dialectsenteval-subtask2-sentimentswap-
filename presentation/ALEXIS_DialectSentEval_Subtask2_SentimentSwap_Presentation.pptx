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59708f-a293-0f93-8afa-0fb9a0ea2684}">
          <p14:sldIdLst>
            <p14:sldId id="256"/>
            <p14:sldId id="257"/>
          </p14:sldIdLst>
        </p14:section>
        <p14:section name="Task and data" id="{e827d56e-9294-9d1a-0e71-64e2211c2c53}">
          <p14:sldIdLst>
            <p14:sldId id="258"/>
            <p14:sldId id="259"/>
            <p14:sldId id="260"/>
            <p14:sldId id="261"/>
            <p14:sldId id="262"/>
          </p14:sldIdLst>
        </p14:section>
        <p14:section name="System" id="{ec906caa-3262-e908-6c2e-424f7d0dfe19}">
          <p14:sldIdLst>
            <p14:sldId id="263"/>
            <p14:sldId id="264"/>
            <p14:sldId id="265"/>
            <p14:sldId id="266"/>
          </p14:sldIdLst>
        </p14:section>
        <p14:section name="Results" id="{65ba6362-78b4-cb1a-81d0-a688f4fab6db}">
          <p14:sldIdLst>
            <p14:sldId id="267"/>
            <p14:sldId id="268"/>
            <p14:sldId id="269"/>
            <p14:sldId id="270"/>
          </p14:sldIdLst>
        </p14:section>
        <p14:section name="Closing" id="{833f56d7-7fc3-fa2b-0555-bf53b862452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117"/>
                </a:solidFill>
                <a:latin typeface="Calibri"/>
              </a:defRPr>
            </a:pPr>
            <a:r>
              <a:rPr sz="1300" b="0" i="0" u="none" strike="noStrike">
                <a:solidFill>
                  <a:srgbClr val="0D1117"/>
                </a:solidFill>
                <a:latin typeface="Calibri"/>
              </a:rPr>
              <a:t>Source-polarity accuracy against gold labels</a:t>
            </a:r>
          </a:p>
        </c:rich>
      </c:tx>
      <c:layout/>
      <c:overlay val="0"/>
    </c:title>
    <c:autoTitleDeleted val="0"/>
    <c:plotArea>
      <c:layout/>
      <c:barChart>
        <c:barDir val="bar"/>
        <c:grouping val="clustered"/>
        <c:varyColors val="0"/>
        <c:ser>
          <c:idx val="0"/>
          <c:order val="0"/>
          <c:tx>
            <c:strRef>
              <c:f>Sheet1!$B$1</c:f>
              <c:strCache>
                <c:ptCount val="1"/>
                <c:pt idx="0">
                  <c:v>Source-polarity accuracy</c:v>
                </c:pt>
              </c:strCache>
            </c:strRef>
          </c:tx>
          <c:spPr>
            <a:solidFill>
              <a:srgbClr val="B8C4D6"/>
            </a:solidFill>
            <a:effectLst/>
          </c:spPr>
          <c:invertIfNegative val="0"/>
          <c:dLbls>
            <c:numFmt formatCode="0.0&quot;%&quot;" sourceLinked="0"/>
            <c:txPr>
              <a:bodyPr/>
              <a:lstStyle/>
              <a:p>
                <a:pPr>
                  <a:defRPr b="1" i="0" strike="noStrike" sz="1400" u="none">
                    <a:solidFill>
                      <a:srgbClr val="0D1117"/>
                    </a:solidFill>
                    <a:latin typeface="Calibri"/>
                  </a:defRPr>
                </a:pPr>
              </a:p>
            </c:txPr>
            <c:showLegendKey val="0"/>
            <c:showVal val="1"/>
            <c:showCatName val="0"/>
            <c:showSerName val="0"/>
            <c:showPercent val="0"/>
            <c:showBubbleSize val="0"/>
            <c:showLeaderLines val="0"/>
          </c:dLbls>
          <c:dPt>
            <c:idx val="0"/>
            <c:invertIfNegative val="0"/>
            <c:bubble3D val="0"/>
            <c:spPr>
              <a:solidFill>
                <a:srgbClr val="B8C4D6"/>
              </a:solidFill>
              <a:effectLst/>
            </c:spPr>
          </c:dPt>
          <c:dPt>
            <c:idx val="1"/>
            <c:invertIfNegative val="0"/>
            <c:bubble3D val="0"/>
            <c:spPr>
              <a:solidFill>
                <a:srgbClr val="7FA8FF"/>
              </a:solidFill>
              <a:effectLst/>
            </c:spPr>
          </c:dPt>
          <c:dPt>
            <c:idx val="2"/>
            <c:invertIfNegative val="0"/>
            <c:bubble3D val="0"/>
            <c:spPr>
              <a:solidFill>
                <a:srgbClr val="1E6BFF"/>
              </a:solidFill>
              <a:effectLst/>
            </c:spPr>
          </c:dPt>
          <c:cat>
            <c:multiLvlStrRef>
              <c:f>Sheet1!$A$2:$A$4</c:f>
              <c:multiLvlStrCache>
                <c:ptCount val="3"/>
                <c:lvl>
                  <c:pt idx="0">
                    <c:v>Official grader (zero-shot)</c:v>
                  </c:pt>
                  <c:pt idx="1">
                    <c:v>Our fine-tuned classifier</c:v>
                  </c:pt>
                  <c:pt idx="2">
                    <c:v>50/50 vote of both</c:v>
                  </c:pt>
                </c:lvl>
              </c:multiLvlStrCache>
            </c:multiLvlStrRef>
          </c:cat>
          <c:val>
            <c:numRef>
              <c:f>Sheet1!$B$2:$B$4</c:f>
              <c:numCache>
                <c:formatCode>General</c:formatCode>
                <c:ptCount val="3"/>
                <c:pt idx="0">
                  <c:v>74.3</c:v>
                </c:pt>
                <c:pt idx="1">
                  <c:v>96.7</c:v>
                </c:pt>
                <c:pt idx="2">
                  <c:v>97.3</c:v>
                </c:pt>
              </c:numCache>
            </c:numRef>
          </c:val>
        </c:ser>
        <c:dLbls>
          <c:numFmt formatCode="0.0&quot;%&quot;" sourceLinked="0"/>
          <c:txPr>
            <a:bodyPr/>
            <a:lstStyle/>
            <a:p>
              <a:pPr>
                <a:defRPr b="1" i="0" strike="noStrike" sz="1400" u="none">
                  <a:solidFill>
                    <a:srgbClr val="0D1117"/>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D111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3E9F2"/>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8A93A0"/>
                </a:solidFill>
                <a:latin typeface="Calibri"/>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Momen Ibrahim from the Faculty of Engineering at Alexandria University. This is joint work with Mariam Hassib, Ahmed Salem and Marwan Torki. I'm presenting Team ALEXIS's system for Subtask 2 of the DialectSentEval 2026 shared task: Arabic sentiment swap.
Our paper is titled: Retrieval-Augmented, Preference-Tuned Generation for Arabic Sentiment Swap. It ranked first of fifteen submissions.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reached a Sentiment Style Accuracy of 0.9581, seventeen point three points ahead of second place.
Our BLEU was 56.91 and our chrF was 72.18. As I will show, much of our margin came from one fix worth 0.155 Sentiment Style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Sentiment swap means rewriting a sentence so it carries the opposite polarity while its topic stays the same. Here is a training pair from the MA'AKS dataset. 'A nice experience, reasonable price, thank you' becomes 'a bad experience, unreasonable price, no thanks'. Only a few words change; the structure and length stay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MA'AKS has about nine thousand six hundred Modern Standard Arabic pairs. One detail matters a lot: the training and validation files include the source polarity, but the test file does not. Outputs are scored by Sentiment Style Accuracy, judged by a fixed CAMeLBERT classifier, plus BLEU and chrF against the human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of the data each shaped a component. Ninety-one percent of pairs stay within two words of the source length, so this is local editing, not paraphrasing. That motivated an edit-tagging model and a content term in our reranker. Twenty-two point eight percent of test sentences repeat an earlier source, so we built a retrieval index. And the same polarity markers flip again and again, so we mined flip lexicons as a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hidden catch. The test set omits the source polarity, so it has to be predicted. 3 percent of the time, so roughly a quarter of the test set was being rewritten toward the wrong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percent. 155, our largest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stages. First, we detect the source polarity, which fixes the target. Second, we pool candidates from four generators, mT5-base refined with DPO, mT5-large, NLLB-200 and an edit tagger, plus the retrieval index. Third, we rerank every candidate, and a deterministic pass repairs any emoji or antonym that still carries the source polarity.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score ties it together: alpha times the grader's probability of the target polarity, plus one minus alpha times chrF to the source, with alpha set to 0.85. The same form of score is our DPO reward. An early version of the reward dropped the neutral class, and the model learned to exploit that. Keeping the raw three-way probability closed the loophole.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details mattered for the main generator. Negative-to-positive is the harder direction, so we use thirteen beams instead of ten when the source is predicted negative. And we select checkpoints by the chrF of beam-search output, not by loss: the lowest-loss checkpoint wrote measurably worse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official leaderboard we ranked first of fifteen. The margin is specific to Sentiment Style Accuracy: several systems are close on BLEU and chrF, and the main difference is whether the polarity actually flipped.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of our ablation is a real leaderboard submission. The generation-side additions, the edit tagger, a wider pool, DPO and the extra generators, added about 0.044 in total. The dedicated polarity classifier added 0.155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lessons came from failures. A hard gate that discarded off-target candidates appeared to cost nothing on validation, but lost 0.050 on the leaderboard, because the same classifier both chose and judged the candidates. And validation preferred putting all the weight on polarity, which hurt BLEU and chrF, so we moved only part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take-home message: our largest gain came from predicting a label the task assumed would be given. When a shared task is built around an auxiliary classifier, measure that classifier on the job it is asked to do before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on the ACL Anthology and our code is on GitHub. You can reach both through these QR codes.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deployed configuration, from Table 2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LIGHT-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DARK-image-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DIVIDER-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457200"/>
            <a:ext cx="256032" cy="256032"/>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2  ·  ArabicNLP 2026</a:t>
            </a:r>
            <a:endParaRPr lang="en-US" sz="900" dirty="0"/>
          </a:p>
        </p:txBody>
      </p:sp>
      <p:sp>
        <p:nvSpPr>
          <p:cNvPr id="5" name="Text 1"/>
          <p:cNvSpPr/>
          <p:nvPr>
            <p:ph idx="103" type="body" hasCustomPrompt="1"/>
          </p:nvPr>
        </p:nvSpPr>
        <p:spPr>
          <a:xfrm>
            <a:off x="786384" y="457200"/>
            <a:ext cx="8229600" cy="256032"/>
          </a:xfrm>
          <a:prstGeom prst="rect">
            <a:avLst/>
          </a:prstGeom>
          <a:noFill/>
          <a:ln/>
        </p:spPr>
        <p:txBody>
          <a:bodyPr wrap="square" rtlCol="0"/>
          <a:lstStyle>
            <a:lvl1pPr algn="l" indent="0" marL="0">
              <a:buNone/>
              <a:defRPr lang="en-US" sz="1100" b="1" spc="100" kern="0" dirty="0">
                <a:solidFill>
                  <a:srgbClr val="1E6BFF"/>
                </a:solidFill>
                <a:latin typeface="Arial" pitchFamily="34" charset="0"/>
                <a:ea typeface="Arial" pitchFamily="34" charset="-122"/>
                <a:cs typeface="Arial" pitchFamily="34" charset="-120"/>
              </a:defRPr>
            </a:lvl1pPr>
          </a:lstStyle>
          <a:p>
            <a:pPr algn="l" indent="0" marL="0">
              <a:buNone/>
            </a:pPr>
            <a:endParaRPr lang="en-US" sz="1100" dirty="0"/>
          </a:p>
        </p:txBody>
      </p:sp>
      <p:sp>
        <p:nvSpPr>
          <p:cNvPr id="6" name="Text 1"/>
          <p:cNvSpPr/>
          <p:nvPr>
            <p:ph idx="104" type="title" hasCustomPrompt="1"/>
          </p:nvPr>
        </p:nvSpPr>
        <p:spPr>
          <a:xfrm>
            <a:off x="457200" y="768096"/>
            <a:ext cx="11247120" cy="566928"/>
          </a:xfrm>
          <a:prstGeom prst="rect">
            <a:avLst/>
          </a:prstGeom>
          <a:noFill/>
          <a:ln/>
        </p:spPr>
        <p:txBody>
          <a:bodyPr wrap="square" rtlCol="0"/>
          <a:lstStyle>
            <a:lvl1pPr algn="l" indent="0" marL="0">
              <a:buNone/>
              <a:defRPr lang="en-US" sz="2800" b="1" dirty="0">
                <a:solidFill>
                  <a:srgbClr val="0D1117"/>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548640"/>
            <a:ext cx="274320" cy="27432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2  ·  ArabicNLP 2026</a:t>
            </a:r>
            <a:endParaRPr lang="en-US" sz="900" dirty="0"/>
          </a:p>
        </p:txBody>
      </p:sp>
      <p:sp>
        <p:nvSpPr>
          <p:cNvPr id="5" name="Text 1"/>
          <p:cNvSpPr/>
          <p:nvPr>
            <p:ph idx="103" type="body" hasCustomPrompt="1"/>
          </p:nvPr>
        </p:nvSpPr>
        <p:spPr>
          <a:xfrm>
            <a:off x="822960" y="548640"/>
            <a:ext cx="8229600" cy="274320"/>
          </a:xfrm>
          <a:prstGeom prst="rect">
            <a:avLst/>
          </a:prstGeom>
          <a:noFill/>
          <a:ln/>
        </p:spPr>
        <p:txBody>
          <a:bodyPr wrap="square" rtlCol="0"/>
          <a:lstStyle>
            <a:lvl1pPr algn="l" indent="0" marL="0">
              <a:buNone/>
              <a:defRPr lang="en-US" sz="1200" b="1" spc="100" kern="0" dirty="0">
                <a:solidFill>
                  <a:srgbClr val="22C3FF"/>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6" name="Text 1"/>
          <p:cNvSpPr/>
          <p:nvPr>
            <p:ph idx="104" type="title" hasCustomPrompt="1"/>
          </p:nvPr>
        </p:nvSpPr>
        <p:spPr>
          <a:xfrm>
            <a:off x="457200" y="1097280"/>
            <a:ext cx="11247120" cy="118872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sp>
        <p:nvSpPr>
          <p:cNvPr id="3"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2  ·  ArabicNLP 2026</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_big.png">    </p:cNvPr>
          <p:cNvPicPr>
            <a:picLocks noChangeAspect="1"/>
          </p:cNvPicPr>
          <p:nvPr/>
        </p:nvPicPr>
        <p:blipFill>
          <a:blip r:embed="rId2"/>
          <a:stretch>
            <a:fillRect/>
          </a:stretch>
        </p:blipFill>
        <p:spPr>
          <a:xfrm>
            <a:off x="3977640" y="2788920"/>
            <a:ext cx="640080" cy="64008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2  ·  ArabicNLP 2026</a:t>
            </a:r>
            <a:endParaRPr lang="en-US" sz="900" dirty="0"/>
          </a:p>
        </p:txBody>
      </p:sp>
      <p:sp>
        <p:nvSpPr>
          <p:cNvPr id="5" name="Text 1"/>
          <p:cNvSpPr/>
          <p:nvPr>
            <p:ph idx="103" type="body" hasCustomPrompt="1"/>
          </p:nvPr>
        </p:nvSpPr>
        <p:spPr>
          <a:xfrm>
            <a:off x="822960" y="2011680"/>
            <a:ext cx="2926080" cy="1828800"/>
          </a:xfrm>
          <a:prstGeom prst="rect">
            <a:avLst/>
          </a:prstGeom>
          <a:noFill/>
          <a:ln/>
        </p:spPr>
        <p:txBody>
          <a:bodyPr wrap="square" rtlCol="0"/>
          <a:lstStyle>
            <a:lvl1pPr algn="l" indent="0" marL="0">
              <a:buNone/>
              <a:defRPr lang="en-US" sz="12000" b="1" dirty="0">
                <a:solidFill>
                  <a:srgbClr val="1E6BFF"/>
                </a:solidFill>
                <a:latin typeface="Arial" pitchFamily="34" charset="0"/>
                <a:ea typeface="Arial" pitchFamily="34" charset="-122"/>
                <a:cs typeface="Arial" pitchFamily="34" charset="-120"/>
              </a:defRPr>
            </a:lvl1pPr>
          </a:lstStyle>
          <a:p>
            <a:pPr algn="l" indent="0" marL="0">
              <a:buNone/>
            </a:pPr>
            <a:endParaRPr lang="en-US" sz="12000" dirty="0"/>
          </a:p>
        </p:txBody>
      </p:sp>
      <p:sp>
        <p:nvSpPr>
          <p:cNvPr id="6" name="Text 1"/>
          <p:cNvSpPr/>
          <p:nvPr>
            <p:ph idx="104" type="title" hasCustomPrompt="1"/>
          </p:nvPr>
        </p:nvSpPr>
        <p:spPr>
          <a:xfrm>
            <a:off x="4754880" y="2468880"/>
            <a:ext cx="6949440" cy="82296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7" name="Text 1"/>
          <p:cNvSpPr/>
          <p:nvPr>
            <p:ph idx="105" type="body" hasCustomPrompt="1"/>
          </p:nvPr>
        </p:nvSpPr>
        <p:spPr>
          <a:xfrm>
            <a:off x="4773168" y="3310128"/>
            <a:ext cx="6858000" cy="548640"/>
          </a:xfrm>
          <a:prstGeom prst="rect">
            <a:avLst/>
          </a:prstGeom>
          <a:noFill/>
          <a:ln/>
        </p:spPr>
        <p:txBody>
          <a:bodyPr wrap="square" rtlCol="0"/>
          <a:lstStyle>
            <a:lvl1pPr algn="l" indent="0" marL="0">
              <a:buNone/>
              <a:defRPr lang="en-US" sz="1600" dirty="0">
                <a:solidFill>
                  <a:srgbClr val="9FB3D0"/>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1.png"/><Relationship Id="rId4" Type="http://schemas.openxmlformats.org/officeDocument/2006/relationships/image" Target="../media/image-5-4.png"/><Relationship Id="rId5" Type="http://schemas.openxmlformats.org/officeDocument/2006/relationships/image" Target="../media/image-5-1.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0352" y="457200"/>
            <a:ext cx="3246120"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3" name="Image 0" descr="/home/aigca/ALEXIS/Posters/build/pptx/media/logo_emnlp.png">    </p:cNvPr>
          <p:cNvPicPr>
            <a:picLocks noChangeAspect="1"/>
          </p:cNvPicPr>
          <p:nvPr/>
        </p:nvPicPr>
        <p:blipFill>
          <a:blip r:embed="rId1"/>
          <a:stretch>
            <a:fillRect/>
          </a:stretch>
        </p:blipFill>
        <p:spPr>
          <a:xfrm>
            <a:off x="713232" y="708660"/>
            <a:ext cx="2103120" cy="366348"/>
          </a:xfrm>
          <a:prstGeom prst="rect">
            <a:avLst/>
          </a:prstGeom>
        </p:spPr>
      </p:pic>
      <p:pic>
        <p:nvPicPr>
          <p:cNvPr id="4" name="Image 1" descr="/home/aigca/ALEXIS/Posters/build/pptx/media/logo_sigarab.png">    </p:cNvPr>
          <p:cNvPicPr>
            <a:picLocks noChangeAspect="1"/>
          </p:cNvPicPr>
          <p:nvPr/>
        </p:nvPicPr>
        <p:blipFill>
          <a:blip r:embed="rId2"/>
          <a:stretch>
            <a:fillRect/>
          </a:stretch>
        </p:blipFill>
        <p:spPr>
          <a:xfrm>
            <a:off x="2971800" y="548640"/>
            <a:ext cx="685800" cy="685800"/>
          </a:xfrm>
          <a:prstGeom prst="rect">
            <a:avLst/>
          </a:prstGeom>
        </p:spPr>
      </p:pic>
      <p:pic>
        <p:nvPicPr>
          <p:cNvPr id="5" name="Image 2" descr="/home/aigca/ALEXIS/Posters/build/pptx/media/au_emblem.png">    </p:cNvPr>
          <p:cNvPicPr>
            <a:picLocks noChangeAspect="1"/>
          </p:cNvPicPr>
          <p:nvPr/>
        </p:nvPicPr>
        <p:blipFill>
          <a:blip r:embed="rId3"/>
          <a:stretch>
            <a:fillRect/>
          </a:stretch>
        </p:blipFill>
        <p:spPr>
          <a:xfrm>
            <a:off x="10241280" y="292608"/>
            <a:ext cx="1371600" cy="1371600"/>
          </a:xfrm>
          <a:prstGeom prst="rect">
            <a:avLst/>
          </a:prstGeom>
        </p:spPr>
      </p:pic>
      <p:sp>
        <p:nvSpPr>
          <p:cNvPr id="6" name="Text 1"/>
          <p:cNvSpPr txBox="1"/>
          <p:nvPr/>
        </p:nvSpPr>
        <p:spPr>
          <a:xfrm>
            <a:off x="1828800" y="1417320"/>
            <a:ext cx="8531352" cy="274320"/>
          </a:xfrm>
          <a:prstGeom prst="rect">
            <a:avLst/>
          </a:prstGeom>
          <a:noFill/>
          <a:ln/>
        </p:spPr>
        <p:txBody>
          <a:bodyPr wrap="square" lIns="0" tIns="0" rIns="0" bIns="0" rtlCol="0" anchor="t"/>
          <a:lstStyle/>
          <a:p>
            <a:pPr algn="ctr" indent="0" marL="0">
              <a:buNone/>
            </a:pPr>
            <a:r>
              <a:rPr lang="en-US" sz="1100" spc="100" kern="0" dirty="0">
                <a:solidFill>
                  <a:srgbClr val="9FB3D0"/>
                </a:solidFill>
                <a:latin typeface="Calibri" pitchFamily="34" charset="0"/>
                <a:ea typeface="Calibri" pitchFamily="34" charset="-122"/>
                <a:cs typeface="Calibri" pitchFamily="34" charset="-120"/>
              </a:rPr>
              <a:t>W13  ·  THE FOURTH ARABIC NLP CONFERENCE (ArabicNLP 2026)  ·  EMNLP 2026  ·  BUDAPEST</a:t>
            </a:r>
            <a:endParaRPr lang="en-US" sz="1100" dirty="0"/>
          </a:p>
        </p:txBody>
      </p:sp>
      <p:sp>
        <p:nvSpPr>
          <p:cNvPr id="7" name="Text 2"/>
          <p:cNvSpPr txBox="1"/>
          <p:nvPr/>
        </p:nvSpPr>
        <p:spPr>
          <a:xfrm>
            <a:off x="0" y="1920240"/>
            <a:ext cx="12191695" cy="320040"/>
          </a:xfrm>
          <a:prstGeom prst="rect">
            <a:avLst/>
          </a:prstGeom>
          <a:noFill/>
          <a:ln/>
        </p:spPr>
        <p:txBody>
          <a:bodyPr wrap="square" lIns="0" tIns="0" rIns="0" bIns="0" rtlCol="0" anchor="t"/>
          <a:lstStyle/>
          <a:p>
            <a:pPr algn="ctr" indent="0" marL="0">
              <a:buNone/>
            </a:pPr>
            <a:r>
              <a:rPr lang="en-US" sz="1300" b="1" spc="100" kern="0" dirty="0">
                <a:solidFill>
                  <a:srgbClr val="22C3FF"/>
                </a:solidFill>
                <a:latin typeface="Arial" pitchFamily="34" charset="0"/>
                <a:ea typeface="Arial" pitchFamily="34" charset="-122"/>
                <a:cs typeface="Arial" pitchFamily="34" charset="-120"/>
              </a:rPr>
              <a:t>ARABIC SENTIMENT SWAP  ·  DIALECTSENTEVAL 2026 SUBTASK 2</a:t>
            </a:r>
            <a:endParaRPr lang="en-US" sz="1300" dirty="0"/>
          </a:p>
        </p:txBody>
      </p:sp>
      <p:sp>
        <p:nvSpPr>
          <p:cNvPr id="8" name="Text 3"/>
          <p:cNvSpPr txBox="1"/>
          <p:nvPr/>
        </p:nvSpPr>
        <p:spPr>
          <a:xfrm>
            <a:off x="548640" y="2286000"/>
            <a:ext cx="11094415" cy="68580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pitchFamily="34" charset="0"/>
                <a:ea typeface="Arial" pitchFamily="34" charset="-122"/>
                <a:cs typeface="Arial" pitchFamily="34" charset="-120"/>
              </a:rPr>
              <a:t>Retrieval-Augmented, Preference-Tuned Generation</a:t>
            </a:r>
            <a:endParaRPr lang="en-US" sz="3400" dirty="0"/>
          </a:p>
        </p:txBody>
      </p:sp>
      <p:sp>
        <p:nvSpPr>
          <p:cNvPr id="9" name="Text 4"/>
          <p:cNvSpPr txBox="1"/>
          <p:nvPr/>
        </p:nvSpPr>
        <p:spPr>
          <a:xfrm>
            <a:off x="548640" y="2971800"/>
            <a:ext cx="11094415" cy="548640"/>
          </a:xfrm>
          <a:prstGeom prst="rect">
            <a:avLst/>
          </a:prstGeom>
          <a:noFill/>
          <a:ln/>
        </p:spPr>
        <p:txBody>
          <a:bodyPr wrap="square" lIns="0" tIns="0" rIns="0" bIns="0" rtlCol="0" anchor="ctr"/>
          <a:lstStyle/>
          <a:p>
            <a:pPr algn="ctr" indent="0" marL="0">
              <a:buNone/>
            </a:pPr>
            <a:r>
              <a:rPr lang="en-US" sz="2600" b="1" dirty="0">
                <a:solidFill>
                  <a:srgbClr val="22C3FF"/>
                </a:solidFill>
                <a:latin typeface="Arial" pitchFamily="34" charset="0"/>
                <a:ea typeface="Arial" pitchFamily="34" charset="-122"/>
                <a:cs typeface="Arial" pitchFamily="34" charset="-120"/>
              </a:rPr>
              <a:t>for Arabic Sentiment Swap</a:t>
            </a:r>
            <a:endParaRPr lang="en-US" sz="2600" dirty="0"/>
          </a:p>
        </p:txBody>
      </p:sp>
      <p:sp>
        <p:nvSpPr>
          <p:cNvPr id="10" name="Shape 5"/>
          <p:cNvSpPr/>
          <p:nvPr/>
        </p:nvSpPr>
        <p:spPr>
          <a:xfrm>
            <a:off x="4160520" y="3767328"/>
            <a:ext cx="713232" cy="804672"/>
          </a:xfrm>
          <a:prstGeom prst="roundRect">
            <a:avLst>
              <a:gd name="adj" fmla="val 12821"/>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11" name="Image 3" descr="/home/aigca/ALEXIS/Posters/build/pptx/media/logo_alexis.png">    </p:cNvPr>
          <p:cNvPicPr>
            <a:picLocks noChangeAspect="1"/>
          </p:cNvPicPr>
          <p:nvPr/>
        </p:nvPicPr>
        <p:blipFill>
          <a:blip r:embed="rId4"/>
          <a:stretch>
            <a:fillRect/>
          </a:stretch>
        </p:blipFill>
        <p:spPr>
          <a:xfrm>
            <a:off x="4233672" y="3813048"/>
            <a:ext cx="566928" cy="697758"/>
          </a:xfrm>
          <a:prstGeom prst="rect">
            <a:avLst/>
          </a:prstGeom>
        </p:spPr>
      </p:pic>
      <p:pic>
        <p:nvPicPr>
          <p:cNvPr id="12" name="Image 4" descr="/home/aigca/ALEXIS/Posters/build/pptx/media/logo_aimoment_white.png">    </p:cNvPr>
          <p:cNvPicPr>
            <a:picLocks noChangeAspect="1"/>
          </p:cNvPicPr>
          <p:nvPr/>
        </p:nvPicPr>
        <p:blipFill>
          <a:blip r:embed="rId5"/>
          <a:stretch>
            <a:fillRect/>
          </a:stretch>
        </p:blipFill>
        <p:spPr>
          <a:xfrm>
            <a:off x="5074920" y="4005072"/>
            <a:ext cx="2926080" cy="371612"/>
          </a:xfrm>
          <a:prstGeom prst="rect">
            <a:avLst/>
          </a:prstGeom>
        </p:spPr>
      </p:pic>
      <p:sp>
        <p:nvSpPr>
          <p:cNvPr id="13" name="Text 6"/>
          <p:cNvSpPr txBox="1"/>
          <p:nvPr/>
        </p:nvSpPr>
        <p:spPr>
          <a:xfrm>
            <a:off x="0" y="4754880"/>
            <a:ext cx="12191695" cy="32004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Momen Ibrahim  ·  Mariam E. Hassib  ·  Ahmed Salem  ·  Marwan Torki</a:t>
            </a:r>
            <a:endParaRPr lang="en-US" sz="1500" dirty="0"/>
          </a:p>
        </p:txBody>
      </p:sp>
      <p:sp>
        <p:nvSpPr>
          <p:cNvPr id="14" name="Text 7"/>
          <p:cNvSpPr txBox="1"/>
          <p:nvPr/>
        </p:nvSpPr>
        <p:spPr>
          <a:xfrm>
            <a:off x="0" y="5138928"/>
            <a:ext cx="12191695" cy="292608"/>
          </a:xfrm>
          <a:prstGeom prst="rect">
            <a:avLst/>
          </a:prstGeom>
          <a:noFill/>
          <a:ln/>
        </p:spPr>
        <p:txBody>
          <a:bodyPr wrap="square" lIns="0" tIns="0" rIns="0" bIns="0" rtlCol="0" anchor="t"/>
          <a:lstStyle/>
          <a:p>
            <a:pPr algn="ctr" indent="0" marL="0">
              <a:buNone/>
            </a:pPr>
            <a:r>
              <a:rPr lang="en-US" sz="1200" dirty="0">
                <a:solidFill>
                  <a:srgbClr val="9FB3D0"/>
                </a:solidFill>
                <a:latin typeface="Calibri" pitchFamily="34" charset="0"/>
                <a:ea typeface="Calibri" pitchFamily="34" charset="-122"/>
                <a:cs typeface="Calibri" pitchFamily="34" charset="-120"/>
              </a:rPr>
              <a:t>Computer and Systems Engineering Department, Faculty of Engineering, Alexandria University, Egypt      |      Team ALEXIS</a:t>
            </a:r>
            <a:endParaRPr lang="en-US" sz="1200" dirty="0"/>
          </a:p>
        </p:txBody>
      </p:sp>
      <p:sp>
        <p:nvSpPr>
          <p:cNvPr id="15" name="Text 8"/>
          <p:cNvSpPr txBox="1"/>
          <p:nvPr/>
        </p:nvSpPr>
        <p:spPr>
          <a:xfrm>
            <a:off x="731520" y="5852160"/>
            <a:ext cx="10728655" cy="384048"/>
          </a:xfrm>
          <a:prstGeom prst="rect">
            <a:avLst/>
          </a:prstGeom>
          <a:noFill/>
          <a:ln/>
        </p:spPr>
        <p:txBody>
          <a:bodyPr wrap="square" lIns="0" tIns="0" rIns="0" bIns="0" rtlCol="0" anchor="ctr"/>
          <a:lstStyle/>
          <a:p>
            <a:pPr algn="ctr" indent="0" marL="0">
              <a:buNone/>
            </a:pPr>
            <a:r>
              <a:rPr lang="en-US" sz="1400" b="1" dirty="0">
                <a:solidFill>
                  <a:srgbClr val="22C3FF"/>
                </a:solidFill>
                <a:latin typeface="Arial" pitchFamily="34" charset="0"/>
                <a:ea typeface="Arial" pitchFamily="34" charset="-122"/>
                <a:cs typeface="Arial" pitchFamily="34" charset="-120"/>
              </a:rPr>
              <a:t>Rank #1 of 15 submissions  ·  SSA 0.9581  ·  BLEU 56.91  ·  chrF 72.18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RESULTS AT A GLANCE</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First of fifteen, by 17.3 points of style accuracy</a:t>
            </a:r>
            <a:endParaRPr lang="en-US" sz="2800" dirty="0"/>
          </a:p>
        </p:txBody>
      </p:sp>
      <p:sp>
        <p:nvSpPr>
          <p:cNvPr id="5" name="Shape 2"/>
          <p:cNvSpPr/>
          <p:nvPr/>
        </p:nvSpPr>
        <p:spPr>
          <a:xfrm>
            <a:off x="457200"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6" name="Text 3"/>
          <p:cNvSpPr txBox="1"/>
          <p:nvPr/>
        </p:nvSpPr>
        <p:spPr>
          <a:xfrm>
            <a:off x="685800" y="1947672"/>
            <a:ext cx="2194560"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0.9581</a:t>
            </a:r>
            <a:endParaRPr lang="en-US" sz="3000" dirty="0"/>
          </a:p>
        </p:txBody>
      </p:sp>
      <p:sp>
        <p:nvSpPr>
          <p:cNvPr id="7" name="Text 4"/>
          <p:cNvSpPr txBox="1"/>
          <p:nvPr/>
        </p:nvSpPr>
        <p:spPr>
          <a:xfrm>
            <a:off x="685800"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Sentiment Style Accuracy</a:t>
            </a:r>
            <a:endParaRPr lang="en-US" sz="1200" dirty="0"/>
          </a:p>
        </p:txBody>
      </p:sp>
      <p:sp>
        <p:nvSpPr>
          <p:cNvPr id="8" name="Text 5"/>
          <p:cNvSpPr txBox="1"/>
          <p:nvPr/>
        </p:nvSpPr>
        <p:spPr>
          <a:xfrm>
            <a:off x="685800"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official test set, rank 1 of 15</a:t>
            </a:r>
            <a:endParaRPr lang="en-US" sz="1150" dirty="0"/>
          </a:p>
        </p:txBody>
      </p:sp>
      <p:sp>
        <p:nvSpPr>
          <p:cNvPr id="9" name="Shape 6"/>
          <p:cNvSpPr/>
          <p:nvPr/>
        </p:nvSpPr>
        <p:spPr>
          <a:xfrm>
            <a:off x="3319272"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0" name="Text 7"/>
          <p:cNvSpPr txBox="1"/>
          <p:nvPr/>
        </p:nvSpPr>
        <p:spPr>
          <a:xfrm>
            <a:off x="3547872" y="1947672"/>
            <a:ext cx="2194560" cy="566928"/>
          </a:xfrm>
          <a:prstGeom prst="rect">
            <a:avLst/>
          </a:prstGeom>
          <a:noFill/>
          <a:ln/>
        </p:spPr>
        <p:txBody>
          <a:bodyPr wrap="square" lIns="0" tIns="0" rIns="0" bIns="0" rtlCol="0" anchor="ctr"/>
          <a:lstStyle/>
          <a:p>
            <a:pPr indent="0" marL="0">
              <a:buNone/>
            </a:pPr>
            <a:r>
              <a:rPr lang="en-US" sz="2500" b="1" dirty="0">
                <a:solidFill>
                  <a:srgbClr val="B57400"/>
                </a:solidFill>
                <a:latin typeface="Arial" pitchFamily="34" charset="0"/>
                <a:ea typeface="Arial" pitchFamily="34" charset="-122"/>
                <a:cs typeface="Arial" pitchFamily="34" charset="-120"/>
              </a:rPr>
              <a:t>+17.3 pts</a:t>
            </a:r>
            <a:endParaRPr lang="en-US" sz="2500" dirty="0"/>
          </a:p>
        </p:txBody>
      </p:sp>
      <p:sp>
        <p:nvSpPr>
          <p:cNvPr id="11" name="Text 8"/>
          <p:cNvSpPr txBox="1"/>
          <p:nvPr/>
        </p:nvSpPr>
        <p:spPr>
          <a:xfrm>
            <a:off x="3547872"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SSA ahead of 2nd place</a:t>
            </a:r>
            <a:endParaRPr lang="en-US" sz="1200" dirty="0"/>
          </a:p>
        </p:txBody>
      </p:sp>
      <p:sp>
        <p:nvSpPr>
          <p:cNvPr id="12" name="Text 9"/>
          <p:cNvSpPr txBox="1"/>
          <p:nvPr/>
        </p:nvSpPr>
        <p:spPr>
          <a:xfrm>
            <a:off x="3547872"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0.9581 vs 0.7851</a:t>
            </a:r>
            <a:endParaRPr lang="en-US" sz="1150" dirty="0"/>
          </a:p>
        </p:txBody>
      </p:sp>
      <p:sp>
        <p:nvSpPr>
          <p:cNvPr id="13" name="Shape 10"/>
          <p:cNvSpPr/>
          <p:nvPr/>
        </p:nvSpPr>
        <p:spPr>
          <a:xfrm>
            <a:off x="6181344"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4" name="Text 11"/>
          <p:cNvSpPr txBox="1"/>
          <p:nvPr/>
        </p:nvSpPr>
        <p:spPr>
          <a:xfrm>
            <a:off x="6409944" y="1947672"/>
            <a:ext cx="2194560" cy="566928"/>
          </a:xfrm>
          <a:prstGeom prst="rect">
            <a:avLst/>
          </a:prstGeom>
          <a:noFill/>
          <a:ln/>
        </p:spPr>
        <p:txBody>
          <a:bodyPr wrap="square" lIns="0" tIns="0" rIns="0" bIns="0" rtlCol="0" anchor="ctr"/>
          <a:lstStyle/>
          <a:p>
            <a:pPr indent="0" marL="0">
              <a:buNone/>
            </a:pPr>
            <a:r>
              <a:rPr lang="en-US" sz="2500" b="1" dirty="0">
                <a:solidFill>
                  <a:srgbClr val="1E6BFF"/>
                </a:solidFill>
                <a:latin typeface="Arial" pitchFamily="34" charset="0"/>
                <a:ea typeface="Arial" pitchFamily="34" charset="-122"/>
                <a:cs typeface="Arial" pitchFamily="34" charset="-120"/>
              </a:rPr>
              <a:t>56.91 / 72.18</a:t>
            </a:r>
            <a:endParaRPr lang="en-US" sz="2500" dirty="0"/>
          </a:p>
        </p:txBody>
      </p:sp>
      <p:sp>
        <p:nvSpPr>
          <p:cNvPr id="15" name="Text 12"/>
          <p:cNvSpPr txBox="1"/>
          <p:nvPr/>
        </p:nvSpPr>
        <p:spPr>
          <a:xfrm>
            <a:off x="6409944"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BLEU / chrF</a:t>
            </a:r>
            <a:endParaRPr lang="en-US" sz="1200" dirty="0"/>
          </a:p>
        </p:txBody>
      </p:sp>
      <p:sp>
        <p:nvSpPr>
          <p:cNvPr id="16" name="Text 13"/>
          <p:cNvSpPr txBox="1"/>
          <p:nvPr/>
        </p:nvSpPr>
        <p:spPr>
          <a:xfrm>
            <a:off x="6409944"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against the human rewrites</a:t>
            </a:r>
            <a:endParaRPr lang="en-US" sz="1150" dirty="0"/>
          </a:p>
        </p:txBody>
      </p:sp>
      <p:sp>
        <p:nvSpPr>
          <p:cNvPr id="17" name="Shape 14"/>
          <p:cNvSpPr/>
          <p:nvPr/>
        </p:nvSpPr>
        <p:spPr>
          <a:xfrm>
            <a:off x="9043416"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8" name="Text 15"/>
          <p:cNvSpPr txBox="1"/>
          <p:nvPr/>
        </p:nvSpPr>
        <p:spPr>
          <a:xfrm>
            <a:off x="9272016" y="1947672"/>
            <a:ext cx="2194560" cy="566928"/>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+0.155</a:t>
            </a:r>
            <a:endParaRPr lang="en-US" sz="3000" dirty="0"/>
          </a:p>
        </p:txBody>
      </p:sp>
      <p:sp>
        <p:nvSpPr>
          <p:cNvPr id="19" name="Text 16"/>
          <p:cNvSpPr txBox="1"/>
          <p:nvPr/>
        </p:nvSpPr>
        <p:spPr>
          <a:xfrm>
            <a:off x="9272016"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SSA from one fix</a:t>
            </a:r>
            <a:endParaRPr lang="en-US" sz="1200" dirty="0"/>
          </a:p>
        </p:txBody>
      </p:sp>
      <p:sp>
        <p:nvSpPr>
          <p:cNvPr id="20" name="Text 17"/>
          <p:cNvSpPr txBox="1"/>
          <p:nvPr/>
        </p:nvSpPr>
        <p:spPr>
          <a:xfrm>
            <a:off x="9272016"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 dedicated source-polarity classifier</a:t>
            </a:r>
            <a:endParaRPr lang="en-US" sz="1150" dirty="0"/>
          </a:p>
        </p:txBody>
      </p:sp>
      <p:sp>
        <p:nvSpPr>
          <p:cNvPr id="21" name="Shape 18"/>
          <p:cNvSpPr/>
          <p:nvPr/>
        </p:nvSpPr>
        <p:spPr>
          <a:xfrm>
            <a:off x="457200" y="3703320"/>
            <a:ext cx="553212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2" name="Image 0" descr="/home/aigca/ALEXIS/Posters/build/pptx/icons/shuffle_blue.png">    </p:cNvPr>
          <p:cNvPicPr>
            <a:picLocks noChangeAspect="1"/>
          </p:cNvPicPr>
          <p:nvPr/>
        </p:nvPicPr>
        <p:blipFill>
          <a:blip r:embed="rId1"/>
          <a:stretch>
            <a:fillRect/>
          </a:stretch>
        </p:blipFill>
        <p:spPr>
          <a:xfrm>
            <a:off x="658368" y="3904488"/>
            <a:ext cx="329184" cy="329184"/>
          </a:xfrm>
          <a:prstGeom prst="rect">
            <a:avLst/>
          </a:prstGeom>
        </p:spPr>
      </p:pic>
      <p:sp>
        <p:nvSpPr>
          <p:cNvPr id="23" name="Text 19"/>
          <p:cNvSpPr txBox="1"/>
          <p:nvPr/>
        </p:nvSpPr>
        <p:spPr>
          <a:xfrm>
            <a:off x="1115568" y="389534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The setting</a:t>
            </a:r>
            <a:endParaRPr lang="en-US" sz="1400" dirty="0"/>
          </a:p>
        </p:txBody>
      </p:sp>
      <p:sp>
        <p:nvSpPr>
          <p:cNvPr id="24" name="Text 20"/>
          <p:cNvSpPr txBox="1"/>
          <p:nvPr/>
        </p:nvSpPr>
        <p:spPr>
          <a:xfrm>
            <a:off x="658368" y="4379976"/>
            <a:ext cx="5129784" cy="92354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Rewrite a Modern Standard Arabic sentence so it carries the opposite polarity while its topic stays the same.</a:t>
            </a:r>
            <a:endParaRPr lang="en-US" sz="1200" dirty="0"/>
          </a:p>
        </p:txBody>
      </p:sp>
      <p:sp>
        <p:nvSpPr>
          <p:cNvPr id="25" name="Shape 21"/>
          <p:cNvSpPr/>
          <p:nvPr/>
        </p:nvSpPr>
        <p:spPr>
          <a:xfrm>
            <a:off x="6199632" y="3703320"/>
            <a:ext cx="553212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6" name="Image 1" descr="/home/aigca/ALEXIS/Posters/build/pptx/icons/bulb_blue.png">    </p:cNvPr>
          <p:cNvPicPr>
            <a:picLocks noChangeAspect="1"/>
          </p:cNvPicPr>
          <p:nvPr/>
        </p:nvPicPr>
        <p:blipFill>
          <a:blip r:embed="rId2"/>
          <a:stretch>
            <a:fillRect/>
          </a:stretch>
        </p:blipFill>
        <p:spPr>
          <a:xfrm>
            <a:off x="6400800" y="3904488"/>
            <a:ext cx="329184" cy="329184"/>
          </a:xfrm>
          <a:prstGeom prst="rect">
            <a:avLst/>
          </a:prstGeom>
        </p:spPr>
      </p:pic>
      <p:sp>
        <p:nvSpPr>
          <p:cNvPr id="27" name="Text 22"/>
          <p:cNvSpPr txBox="1"/>
          <p:nvPr/>
        </p:nvSpPr>
        <p:spPr>
          <a:xfrm>
            <a:off x="6858000" y="389534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Our approach</a:t>
            </a:r>
            <a:endParaRPr lang="en-US" sz="1400" dirty="0"/>
          </a:p>
        </p:txBody>
      </p:sp>
      <p:sp>
        <p:nvSpPr>
          <p:cNvPr id="28" name="Text 23"/>
          <p:cNvSpPr txBox="1"/>
          <p:nvPr/>
        </p:nvSpPr>
        <p:spPr>
          <a:xfrm>
            <a:off x="6400800" y="4379976"/>
            <a:ext cx="5129784" cy="92354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Constrained editing: a pool of four generators plus retrieval, one score balancing polarity and content, and an explicit, well-predicted target polarity.</a:t>
            </a:r>
            <a:endParaRPr lang="en-US" sz="12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THE TASK</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Flip the polarity, keep everything else</a:t>
            </a:r>
            <a:endParaRPr lang="en-US" sz="2800" dirty="0"/>
          </a:p>
        </p:txBody>
      </p:sp>
      <p:sp>
        <p:nvSpPr>
          <p:cNvPr id="5" name="Text 2"/>
          <p:cNvSpPr txBox="1"/>
          <p:nvPr/>
        </p:nvSpPr>
        <p:spPr>
          <a:xfrm>
            <a:off x="457200" y="1600200"/>
            <a:ext cx="11247120" cy="77724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Two objectives pull against each other: the output must land firmly on the opposite side of the polarity boundary, yet stay close to the source, because content is scored against a human rewrite that is itself a small edit.</a:t>
            </a:r>
            <a:endParaRPr lang="en-US" sz="1500" dirty="0"/>
          </a:p>
        </p:txBody>
      </p:sp>
      <p:sp>
        <p:nvSpPr>
          <p:cNvPr id="6" name="Shape 3"/>
          <p:cNvSpPr/>
          <p:nvPr/>
        </p:nvSpPr>
        <p:spPr>
          <a:xfrm>
            <a:off x="457200" y="2606040"/>
            <a:ext cx="11274552" cy="1234440"/>
          </a:xfrm>
          <a:prstGeom prst="roundRect">
            <a:avLst>
              <a:gd name="adj" fmla="val 5926"/>
            </a:avLst>
          </a:prstGeom>
          <a:solidFill>
            <a:srgbClr val="F4F7FB"/>
          </a:solidFill>
          <a:ln w="9525">
            <a:solidFill>
              <a:srgbClr val="E3E9F2"/>
            </a:solidFill>
            <a:prstDash val="solid"/>
          </a:ln>
        </p:spPr>
      </p:sp>
      <p:sp>
        <p:nvSpPr>
          <p:cNvPr id="7" name="Text 4"/>
          <p:cNvSpPr txBox="1"/>
          <p:nvPr/>
        </p:nvSpPr>
        <p:spPr>
          <a:xfrm>
            <a:off x="685800" y="2697480"/>
            <a:ext cx="1463040" cy="320040"/>
          </a:xfrm>
          <a:prstGeom prst="rect">
            <a:avLst/>
          </a:prstGeom>
          <a:noFill/>
          <a:ln/>
        </p:spPr>
        <p:txBody>
          <a:bodyPr wrap="square" lIns="0" tIns="0" rIns="0" bIns="0" rtlCol="0" anchor="t"/>
          <a:lstStyle/>
          <a:p>
            <a:pPr indent="0" marL="0">
              <a:buNone/>
            </a:pPr>
            <a:r>
              <a:rPr lang="en-US" sz="1100" b="1" spc="100" kern="0" dirty="0">
                <a:solidFill>
                  <a:srgbClr val="5A6472"/>
                </a:solidFill>
                <a:latin typeface="Arial" pitchFamily="34" charset="0"/>
                <a:ea typeface="Arial" pitchFamily="34" charset="-122"/>
                <a:cs typeface="Arial" pitchFamily="34" charset="-120"/>
              </a:rPr>
              <a:t>SOURCE</a:t>
            </a:r>
            <a:endParaRPr lang="en-US" sz="1100" dirty="0"/>
          </a:p>
        </p:txBody>
      </p:sp>
      <p:sp>
        <p:nvSpPr>
          <p:cNvPr id="8" name="Text 5"/>
          <p:cNvSpPr txBox="1"/>
          <p:nvPr/>
        </p:nvSpPr>
        <p:spPr>
          <a:xfrm>
            <a:off x="2194560" y="2651760"/>
            <a:ext cx="9326880" cy="685800"/>
          </a:xfrm>
          <a:prstGeom prst="rect">
            <a:avLst/>
          </a:prstGeom>
          <a:noFill/>
          <a:ln/>
        </p:spPr>
        <p:txBody>
          <a:bodyPr wrap="square" lIns="0" tIns="0" rIns="0" bIns="0" rtlCol="0" anchor="ctr"/>
          <a:lstStyle/>
          <a:p>
            <a:pPr algn="r" indent="0" marL="0">
              <a:buNone/>
            </a:pPr>
            <a:r>
              <a:rPr lang="ar-EG" altLang="en-US" sz="3000" dirty="0">
                <a:solidFill>
                  <a:srgbClr val="0D1117"/>
                </a:solidFill>
                <a:latin typeface="Arial" pitchFamily="34" charset="0"/>
                <a:ea typeface="Arial" pitchFamily="34" charset="-122"/>
                <a:cs typeface="Arial" pitchFamily="34" charset="-120"/>
              </a:rPr>
              <a:t>تجربة </a:t>
            </a:r>
            <a:pPr algn="r" indent="0" marL="0">
              <a:buNone/>
            </a:pPr>
            <a:r>
              <a:rPr lang="ar-EG" altLang="en-US" sz="3000" b="1" dirty="0">
                <a:solidFill>
                  <a:srgbClr val="B57400"/>
                </a:solidFill>
                <a:latin typeface="Arial" pitchFamily="34" charset="0"/>
                <a:ea typeface="Arial" pitchFamily="34" charset="-122"/>
                <a:cs typeface="Arial" pitchFamily="34" charset="-120"/>
              </a:rPr>
              <a:t>جميلة </a:t>
            </a:r>
            <a:pPr algn="r" indent="0" marL="0">
              <a:buNone/>
            </a:pPr>
            <a:r>
              <a:rPr lang="ar-EG" altLang="en-US" sz="3000" dirty="0">
                <a:solidFill>
                  <a:srgbClr val="0D1117"/>
                </a:solidFill>
                <a:latin typeface="Arial" pitchFamily="34" charset="0"/>
                <a:ea typeface="Arial" pitchFamily="34" charset="-122"/>
                <a:cs typeface="Arial" pitchFamily="34" charset="-120"/>
              </a:rPr>
              <a:t>سعر </a:t>
            </a:r>
            <a:pPr algn="r" indent="0" marL="0">
              <a:buNone/>
            </a:pPr>
            <a:r>
              <a:rPr lang="ar-EG" altLang="en-US" sz="3000" dirty="0">
                <a:solidFill>
                  <a:srgbClr val="0D1117"/>
                </a:solidFill>
                <a:latin typeface="Arial" pitchFamily="34" charset="0"/>
                <a:ea typeface="Arial" pitchFamily="34" charset="-122"/>
                <a:cs typeface="Arial" pitchFamily="34" charset="-120"/>
              </a:rPr>
              <a:t>كتير </a:t>
            </a:r>
            <a:pPr algn="r" indent="0" marL="0">
              <a:buNone/>
            </a:pPr>
            <a:r>
              <a:rPr lang="ar-EG" altLang="en-US" sz="3000" dirty="0">
                <a:solidFill>
                  <a:srgbClr val="0D1117"/>
                </a:solidFill>
                <a:latin typeface="Arial" pitchFamily="34" charset="0"/>
                <a:ea typeface="Arial" pitchFamily="34" charset="-122"/>
                <a:cs typeface="Arial" pitchFamily="34" charset="-120"/>
              </a:rPr>
              <a:t>مناسب </a:t>
            </a:r>
            <a:pPr algn="r" indent="0" marL="0">
              <a:buNone/>
            </a:pPr>
            <a:r>
              <a:rPr lang="ar-EG" altLang="en-US" sz="3000" dirty="0">
                <a:solidFill>
                  <a:srgbClr val="0D1117"/>
                </a:solidFill>
                <a:latin typeface="Arial" pitchFamily="34" charset="0"/>
                <a:ea typeface="Arial" pitchFamily="34" charset="-122"/>
                <a:cs typeface="Arial" pitchFamily="34" charset="-120"/>
              </a:rPr>
              <a:t>شكرا </a:t>
            </a:r>
            <a:pPr algn="r" indent="0" marL="0">
              <a:buNone/>
            </a:pPr>
            <a:r>
              <a:rPr lang="ar-EG" altLang="en-US" sz="3000" b="1" dirty="0">
                <a:solidFill>
                  <a:srgbClr val="B57400"/>
                </a:solidFill>
                <a:latin typeface="Arial" pitchFamily="34" charset="0"/>
                <a:ea typeface="Arial" pitchFamily="34" charset="-122"/>
                <a:cs typeface="Arial" pitchFamily="34" charset="-120"/>
              </a:rPr>
              <a:t>لكم</a:t>
            </a:r>
            <a:endParaRPr lang="ar-EG" sz="3000" dirty="0"/>
          </a:p>
        </p:txBody>
      </p:sp>
      <p:sp>
        <p:nvSpPr>
          <p:cNvPr id="9" name="Text 6"/>
          <p:cNvSpPr txBox="1"/>
          <p:nvPr/>
        </p:nvSpPr>
        <p:spPr>
          <a:xfrm>
            <a:off x="2194560" y="3337560"/>
            <a:ext cx="9326880" cy="365760"/>
          </a:xfrm>
          <a:prstGeom prst="rect">
            <a:avLst/>
          </a:prstGeom>
          <a:noFill/>
          <a:ln/>
        </p:spPr>
        <p:txBody>
          <a:bodyPr wrap="square" lIns="0" tIns="0" rIns="0" bIns="0" rtlCol="0" anchor="t"/>
          <a:lstStyle/>
          <a:p>
            <a:pPr algn="r" indent="0" marL="0">
              <a:buNone/>
            </a:pPr>
            <a:r>
              <a:rPr lang="en-US" sz="1300" i="1" dirty="0">
                <a:solidFill>
                  <a:srgbClr val="5A6472"/>
                </a:solidFill>
                <a:latin typeface="Calibri" pitchFamily="34" charset="0"/>
                <a:ea typeface="Calibri" pitchFamily="34" charset="-122"/>
                <a:cs typeface="Calibri" pitchFamily="34" charset="-120"/>
              </a:rPr>
              <a:t>‘a nice experience, reasonable price, thank you’</a:t>
            </a:r>
            <a:endParaRPr lang="en-US" sz="1300" dirty="0"/>
          </a:p>
        </p:txBody>
      </p:sp>
      <p:pic>
        <p:nvPicPr>
          <p:cNvPr id="10" name="Image 0" descr="/home/aigca/ALEXIS/Posters/build/pptx/icons/shuffle_blue.png">    </p:cNvPr>
          <p:cNvPicPr>
            <a:picLocks noChangeAspect="1"/>
          </p:cNvPicPr>
          <p:nvPr/>
        </p:nvPicPr>
        <p:blipFill>
          <a:blip r:embed="rId1"/>
          <a:stretch>
            <a:fillRect/>
          </a:stretch>
        </p:blipFill>
        <p:spPr>
          <a:xfrm>
            <a:off x="5925312" y="3931920"/>
            <a:ext cx="329184" cy="329184"/>
          </a:xfrm>
          <a:prstGeom prst="rect">
            <a:avLst/>
          </a:prstGeom>
        </p:spPr>
      </p:pic>
      <p:sp>
        <p:nvSpPr>
          <p:cNvPr id="11" name="Shape 7"/>
          <p:cNvSpPr/>
          <p:nvPr/>
        </p:nvSpPr>
        <p:spPr>
          <a:xfrm>
            <a:off x="457200" y="4343400"/>
            <a:ext cx="11274552" cy="1234440"/>
          </a:xfrm>
          <a:prstGeom prst="roundRect">
            <a:avLst>
              <a:gd name="adj" fmla="val 5926"/>
            </a:avLst>
          </a:prstGeom>
          <a:solidFill>
            <a:srgbClr val="EAF1FF"/>
          </a:solidFill>
          <a:ln w="9525">
            <a:solidFill>
              <a:srgbClr val="C9DAFD"/>
            </a:solidFill>
            <a:prstDash val="solid"/>
          </a:ln>
        </p:spPr>
      </p:sp>
      <p:sp>
        <p:nvSpPr>
          <p:cNvPr id="12" name="Text 8"/>
          <p:cNvSpPr txBox="1"/>
          <p:nvPr/>
        </p:nvSpPr>
        <p:spPr>
          <a:xfrm>
            <a:off x="685800" y="4434840"/>
            <a:ext cx="1463040" cy="320040"/>
          </a:xfrm>
          <a:prstGeom prst="rect">
            <a:avLst/>
          </a:prstGeom>
          <a:noFill/>
          <a:ln/>
        </p:spPr>
        <p:txBody>
          <a:bodyPr wrap="square" lIns="0" tIns="0" rIns="0" bIns="0" rtlCol="0" anchor="t"/>
          <a:lstStyle/>
          <a:p>
            <a:pPr indent="0" marL="0">
              <a:buNone/>
            </a:pPr>
            <a:r>
              <a:rPr lang="en-US" sz="1100" b="1" spc="100" kern="0" dirty="0">
                <a:solidFill>
                  <a:srgbClr val="1E6BFF"/>
                </a:solidFill>
                <a:latin typeface="Arial" pitchFamily="34" charset="0"/>
                <a:ea typeface="Arial" pitchFamily="34" charset="-122"/>
                <a:cs typeface="Arial" pitchFamily="34" charset="-120"/>
              </a:rPr>
              <a:t>REWRITE</a:t>
            </a:r>
            <a:endParaRPr lang="en-US" sz="1100" dirty="0"/>
          </a:p>
        </p:txBody>
      </p:sp>
      <p:sp>
        <p:nvSpPr>
          <p:cNvPr id="13" name="Text 9"/>
          <p:cNvSpPr txBox="1"/>
          <p:nvPr/>
        </p:nvSpPr>
        <p:spPr>
          <a:xfrm>
            <a:off x="2194560" y="4389120"/>
            <a:ext cx="9326880" cy="685800"/>
          </a:xfrm>
          <a:prstGeom prst="rect">
            <a:avLst/>
          </a:prstGeom>
          <a:noFill/>
          <a:ln/>
        </p:spPr>
        <p:txBody>
          <a:bodyPr wrap="square" lIns="0" tIns="0" rIns="0" bIns="0" rtlCol="0" anchor="ctr"/>
          <a:lstStyle/>
          <a:p>
            <a:pPr algn="r" indent="0" marL="0">
              <a:buNone/>
            </a:pPr>
            <a:r>
              <a:rPr lang="ar-EG" altLang="en-US" sz="3000" dirty="0">
                <a:solidFill>
                  <a:srgbClr val="0D1117"/>
                </a:solidFill>
                <a:latin typeface="Arial" pitchFamily="34" charset="0"/>
                <a:ea typeface="Arial" pitchFamily="34" charset="-122"/>
                <a:cs typeface="Arial" pitchFamily="34" charset="-120"/>
              </a:rPr>
              <a:t>تجربة </a:t>
            </a:r>
            <a:pPr algn="r" indent="0" marL="0">
              <a:buNone/>
            </a:pPr>
            <a:r>
              <a:rPr lang="ar-EG" altLang="en-US" sz="3000" b="1" dirty="0">
                <a:solidFill>
                  <a:srgbClr val="1E6BFF"/>
                </a:solidFill>
                <a:latin typeface="Arial" pitchFamily="34" charset="0"/>
                <a:ea typeface="Arial" pitchFamily="34" charset="-122"/>
                <a:cs typeface="Arial" pitchFamily="34" charset="-120"/>
              </a:rPr>
              <a:t>سيئة </a:t>
            </a:r>
            <a:pPr algn="r" indent="0" marL="0">
              <a:buNone/>
            </a:pPr>
            <a:r>
              <a:rPr lang="ar-EG" altLang="en-US" sz="3000" dirty="0">
                <a:solidFill>
                  <a:srgbClr val="0D1117"/>
                </a:solidFill>
                <a:latin typeface="Arial" pitchFamily="34" charset="0"/>
                <a:ea typeface="Arial" pitchFamily="34" charset="-122"/>
                <a:cs typeface="Arial" pitchFamily="34" charset="-120"/>
              </a:rPr>
              <a:t>سعر </a:t>
            </a:r>
            <a:pPr algn="r" indent="0" marL="0">
              <a:buNone/>
            </a:pPr>
            <a:r>
              <a:rPr lang="ar-EG" altLang="en-US" sz="3000" dirty="0">
                <a:solidFill>
                  <a:srgbClr val="0D1117"/>
                </a:solidFill>
                <a:latin typeface="Arial" pitchFamily="34" charset="0"/>
                <a:ea typeface="Arial" pitchFamily="34" charset="-122"/>
                <a:cs typeface="Arial" pitchFamily="34" charset="-120"/>
              </a:rPr>
              <a:t>كتير </a:t>
            </a:r>
            <a:pPr algn="r" indent="0" marL="0">
              <a:buNone/>
            </a:pPr>
            <a:r>
              <a:rPr lang="ar-EG" altLang="en-US" sz="3000" b="1" dirty="0">
                <a:solidFill>
                  <a:srgbClr val="1E6BFF"/>
                </a:solidFill>
                <a:latin typeface="Arial" pitchFamily="34" charset="0"/>
                <a:ea typeface="Arial" pitchFamily="34" charset="-122"/>
                <a:cs typeface="Arial" pitchFamily="34" charset="-120"/>
              </a:rPr>
              <a:t>غير </a:t>
            </a:r>
            <a:pPr algn="r" indent="0" marL="0">
              <a:buNone/>
            </a:pPr>
            <a:r>
              <a:rPr lang="ar-EG" altLang="en-US" sz="3000" dirty="0">
                <a:solidFill>
                  <a:srgbClr val="0D1117"/>
                </a:solidFill>
                <a:latin typeface="Arial" pitchFamily="34" charset="0"/>
                <a:ea typeface="Arial" pitchFamily="34" charset="-122"/>
                <a:cs typeface="Arial" pitchFamily="34" charset="-120"/>
              </a:rPr>
              <a:t>مناسب </a:t>
            </a:r>
            <a:pPr algn="r" indent="0" marL="0">
              <a:buNone/>
            </a:pPr>
            <a:r>
              <a:rPr lang="ar-EG" altLang="en-US" sz="3000" b="1" dirty="0">
                <a:solidFill>
                  <a:srgbClr val="1E6BFF"/>
                </a:solidFill>
                <a:latin typeface="Arial" pitchFamily="34" charset="0"/>
                <a:ea typeface="Arial" pitchFamily="34" charset="-122"/>
                <a:cs typeface="Arial" pitchFamily="34" charset="-120"/>
              </a:rPr>
              <a:t>لا </a:t>
            </a:r>
            <a:pPr algn="r" indent="0" marL="0">
              <a:buNone/>
            </a:pPr>
            <a:r>
              <a:rPr lang="ar-EG" altLang="en-US" sz="3000" dirty="0">
                <a:solidFill>
                  <a:srgbClr val="0D1117"/>
                </a:solidFill>
                <a:latin typeface="Arial" pitchFamily="34" charset="0"/>
                <a:ea typeface="Arial" pitchFamily="34" charset="-122"/>
                <a:cs typeface="Arial" pitchFamily="34" charset="-120"/>
              </a:rPr>
              <a:t>شكرا </a:t>
            </a:r>
            <a:pPr algn="r" indent="0" marL="0">
              <a:buNone/>
            </a:pPr>
            <a:r>
              <a:rPr lang="ar-EG" altLang="en-US" sz="3000" b="1" dirty="0">
                <a:solidFill>
                  <a:srgbClr val="1E6BFF"/>
                </a:solidFill>
                <a:latin typeface="Arial" pitchFamily="34" charset="0"/>
                <a:ea typeface="Arial" pitchFamily="34" charset="-122"/>
                <a:cs typeface="Arial" pitchFamily="34" charset="-120"/>
              </a:rPr>
              <a:t>عليكم</a:t>
            </a:r>
            <a:endParaRPr lang="ar-EG" sz="3000" dirty="0"/>
          </a:p>
        </p:txBody>
      </p:sp>
      <p:sp>
        <p:nvSpPr>
          <p:cNvPr id="14" name="Text 10"/>
          <p:cNvSpPr txBox="1"/>
          <p:nvPr/>
        </p:nvSpPr>
        <p:spPr>
          <a:xfrm>
            <a:off x="2194560" y="5074920"/>
            <a:ext cx="9326880" cy="365760"/>
          </a:xfrm>
          <a:prstGeom prst="rect">
            <a:avLst/>
          </a:prstGeom>
          <a:noFill/>
          <a:ln/>
        </p:spPr>
        <p:txBody>
          <a:bodyPr wrap="square" lIns="0" tIns="0" rIns="0" bIns="0" rtlCol="0" anchor="t"/>
          <a:lstStyle/>
          <a:p>
            <a:pPr algn="r" indent="0" marL="0">
              <a:buNone/>
            </a:pPr>
            <a:r>
              <a:rPr lang="en-US" sz="1300" i="1" dirty="0">
                <a:solidFill>
                  <a:srgbClr val="5A6472"/>
                </a:solidFill>
                <a:latin typeface="Calibri" pitchFamily="34" charset="0"/>
                <a:ea typeface="Calibri" pitchFamily="34" charset="-122"/>
                <a:cs typeface="Calibri" pitchFamily="34" charset="-120"/>
              </a:rPr>
              <a:t>‘a bad experience, unreasonable price, no thanks’</a:t>
            </a:r>
            <a:endParaRPr lang="en-US" sz="1300" dirty="0"/>
          </a:p>
        </p:txBody>
      </p:sp>
      <p:sp>
        <p:nvSpPr>
          <p:cNvPr id="15" name="Text 11"/>
          <p:cNvSpPr txBox="1"/>
          <p:nvPr/>
        </p:nvSpPr>
        <p:spPr>
          <a:xfrm>
            <a:off x="457200" y="5760720"/>
            <a:ext cx="11247120" cy="320040"/>
          </a:xfrm>
          <a:prstGeom prst="rect">
            <a:avLst/>
          </a:prstGeom>
          <a:noFill/>
          <a:ln/>
        </p:spPr>
        <p:txBody>
          <a:bodyPr wrap="square" lIns="0" tIns="0" rIns="0" bIns="0" rtlCol="0" anchor="t"/>
          <a:lstStyle/>
          <a:p>
            <a:pPr indent="0" marL="0">
              <a:buNone/>
            </a:pPr>
            <a:r>
              <a:rPr lang="en-US" sz="1200" dirty="0">
                <a:solidFill>
                  <a:srgbClr val="8A93A0"/>
                </a:solidFill>
                <a:latin typeface="Calibri" pitchFamily="34" charset="0"/>
                <a:ea typeface="Calibri" pitchFamily="34" charset="-122"/>
                <a:cs typeface="Calibri" pitchFamily="34" charset="-120"/>
              </a:rPr>
              <a:t>A training pair from MA’AKS: a few words change (coloured); the structure and length do not.</a:t>
            </a:r>
            <a:endParaRPr lang="en-US" sz="12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THE DATA</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MA’AKS: Modern Standard Arabic swap pairs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6675120" cy="914400"/>
        </p:xfrm>
        <a:graphic>
          <a:graphicData uri="http://schemas.openxmlformats.org/drawingml/2006/table">
            <a:tbl>
              <a:tblPr/>
              <a:tblGrid>
                <a:gridCol w="3108960"/>
                <a:gridCol w="1188720"/>
                <a:gridCol w="1188720"/>
                <a:gridCol w="1188720"/>
              </a:tblGrid>
              <a:tr h="502920">
                <a:tc>
                  <a:txBody>
                    <a:bodyPr/>
                    <a:lstStyle/>
                    <a:p>
                      <a:pPr algn="l" indent="0" marL="0">
                        <a:buNone/>
                      </a:pPr>
                      <a:r>
                        <a:rPr lang="en-US" sz="1350" b="1" spc="50" kern="0" dirty="0">
                          <a:solidFill>
                            <a:srgbClr val="FFFFFF"/>
                          </a:solidFill>
                          <a:latin typeface="Arial" pitchFamily="34" charset="0"/>
                          <a:ea typeface="Arial" pitchFamily="34" charset="-122"/>
                          <a:cs typeface="Arial" pitchFamily="34" charset="-120"/>
                        </a:rPr>
                        <a:t>MA’AKS</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350" b="1" spc="50" kern="0" dirty="0">
                          <a:solidFill>
                            <a:srgbClr val="FFFFFF"/>
                          </a:solidFill>
                          <a:latin typeface="Arial" pitchFamily="34" charset="0"/>
                          <a:ea typeface="Arial" pitchFamily="34" charset="-122"/>
                          <a:cs typeface="Arial" pitchFamily="34" charset="-120"/>
                        </a:rPr>
                        <a:t>Train</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350" b="1" spc="50" kern="0" dirty="0">
                          <a:solidFill>
                            <a:srgbClr val="FFFFFF"/>
                          </a:solidFill>
                          <a:latin typeface="Arial" pitchFamily="34" charset="0"/>
                          <a:ea typeface="Arial" pitchFamily="34" charset="-122"/>
                          <a:cs typeface="Arial" pitchFamily="34" charset="-120"/>
                        </a:rPr>
                        <a:t>Val</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350" b="1" spc="50" kern="0" dirty="0">
                          <a:solidFill>
                            <a:srgbClr val="FFFFFF"/>
                          </a:solidFill>
                          <a:latin typeface="Arial" pitchFamily="34" charset="0"/>
                          <a:ea typeface="Arial" pitchFamily="34" charset="-122"/>
                          <a:cs typeface="Arial" pitchFamily="34" charset="-120"/>
                        </a:rPr>
                        <a:t>Test</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502920">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Pairs</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6,752</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964</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1,931</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Unique sources</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5,517</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502920">
                <a:tc>
                  <a:txBody>
                    <a:bodyPr/>
                    <a:lstStyle/>
                    <a:p>
                      <a:pPr algn="l" indent="0" marL="0">
                        <a:buNone/>
                      </a:pPr>
                      <a:r>
                        <a:rPr lang="en-US" sz="1500" b="1" dirty="0">
                          <a:solidFill>
                            <a:srgbClr val="1553CC"/>
                          </a:solidFill>
                          <a:latin typeface="Calibri" pitchFamily="34" charset="0"/>
                          <a:ea typeface="Calibri" pitchFamily="34" charset="-122"/>
                          <a:cs typeface="Calibri" pitchFamily="34" charset="-120"/>
                        </a:rPr>
                        <a:t>Has source_polarity</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500" b="1" dirty="0">
                          <a:solidFill>
                            <a:srgbClr val="1553C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500" b="1" dirty="0">
                          <a:solidFill>
                            <a:srgbClr val="1553CC"/>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500" b="1" dirty="0">
                          <a:solidFill>
                            <a:srgbClr val="1553CC"/>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r h="502920">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Exact duplicate of a train source</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20.4%</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22.8%</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4251960"/>
            <a:ext cx="6675120" cy="320040"/>
          </a:xfrm>
          <a:prstGeom prst="rect">
            <a:avLst/>
          </a:prstGeom>
          <a:noFill/>
          <a:ln/>
        </p:spPr>
        <p:txBody>
          <a:bodyPr wrap="square" lIns="0" tIns="0" rIns="0" bIns="0" rtlCol="0" anchor="t"/>
          <a:lstStyle/>
          <a:p>
            <a:pPr indent="0" marL="0">
              <a:buNone/>
            </a:pPr>
            <a:r>
              <a:rPr lang="en-US" sz="1200" dirty="0">
                <a:solidFill>
                  <a:srgbClr val="8A93A0"/>
                </a:solidFill>
                <a:latin typeface="Calibri" pitchFamily="34" charset="0"/>
                <a:ea typeface="Calibri" pitchFamily="34" charset="-122"/>
                <a:cs typeface="Calibri" pitchFamily="34" charset="-120"/>
              </a:rPr>
              <a:t>Unlike train and validation, the test file carries no source_polarity column.</a:t>
            </a:r>
            <a:endParaRPr lang="en-US" sz="1200" dirty="0"/>
          </a:p>
        </p:txBody>
      </p:sp>
      <p:sp>
        <p:nvSpPr>
          <p:cNvPr id="7" name="Shape 3"/>
          <p:cNvSpPr/>
          <p:nvPr/>
        </p:nvSpPr>
        <p:spPr>
          <a:xfrm>
            <a:off x="457200" y="4709160"/>
            <a:ext cx="3246120" cy="1143000"/>
          </a:xfrm>
          <a:prstGeom prst="roundRect">
            <a:avLst>
              <a:gd name="adj" fmla="val 64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8" name="Text 4"/>
          <p:cNvSpPr txBox="1"/>
          <p:nvPr/>
        </p:nvSpPr>
        <p:spPr>
          <a:xfrm>
            <a:off x="685800" y="4873752"/>
            <a:ext cx="2788920" cy="566928"/>
          </a:xfrm>
          <a:prstGeom prst="rect">
            <a:avLst/>
          </a:prstGeom>
          <a:noFill/>
          <a:ln/>
        </p:spPr>
        <p:txBody>
          <a:bodyPr wrap="square" lIns="0" tIns="0" rIns="0" bIns="0" rtlCol="0" anchor="ctr"/>
          <a:lstStyle/>
          <a:p>
            <a:pPr indent="0" marL="0">
              <a:buNone/>
            </a:pPr>
            <a:r>
              <a:rPr lang="en-US" sz="2200" b="1" dirty="0">
                <a:solidFill>
                  <a:srgbClr val="1E6BFF"/>
                </a:solidFill>
                <a:latin typeface="Arial" pitchFamily="34" charset="0"/>
                <a:ea typeface="Arial" pitchFamily="34" charset="-122"/>
                <a:cs typeface="Arial" pitchFamily="34" charset="-120"/>
              </a:rPr>
              <a:t>3,731 / 3,021</a:t>
            </a:r>
            <a:endParaRPr lang="en-US" sz="2200" dirty="0"/>
          </a:p>
        </p:txBody>
      </p:sp>
      <p:sp>
        <p:nvSpPr>
          <p:cNvPr id="9" name="Text 5"/>
          <p:cNvSpPr txBox="1"/>
          <p:nvPr/>
        </p:nvSpPr>
        <p:spPr>
          <a:xfrm>
            <a:off x="685800" y="5458968"/>
            <a:ext cx="278892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negative / positive training sources</a:t>
            </a:r>
            <a:endParaRPr lang="en-US" sz="1200" dirty="0"/>
          </a:p>
        </p:txBody>
      </p:sp>
      <p:sp>
        <p:nvSpPr>
          <p:cNvPr id="10" name="Shape 6"/>
          <p:cNvSpPr/>
          <p:nvPr/>
        </p:nvSpPr>
        <p:spPr>
          <a:xfrm>
            <a:off x="3886200" y="4709160"/>
            <a:ext cx="3246120" cy="1143000"/>
          </a:xfrm>
          <a:prstGeom prst="roundRect">
            <a:avLst>
              <a:gd name="adj" fmla="val 64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1" name="Text 7"/>
          <p:cNvSpPr txBox="1"/>
          <p:nvPr/>
        </p:nvSpPr>
        <p:spPr>
          <a:xfrm>
            <a:off x="4114800" y="4873752"/>
            <a:ext cx="2788920" cy="566928"/>
          </a:xfrm>
          <a:prstGeom prst="rect">
            <a:avLst/>
          </a:prstGeom>
          <a:noFill/>
          <a:ln/>
        </p:spPr>
        <p:txBody>
          <a:bodyPr wrap="square" lIns="0" tIns="0" rIns="0" bIns="0" rtlCol="0" anchor="ctr"/>
          <a:lstStyle/>
          <a:p>
            <a:pPr indent="0" marL="0">
              <a:buNone/>
            </a:pPr>
            <a:r>
              <a:rPr lang="en-US" sz="2200" b="1" dirty="0">
                <a:solidFill>
                  <a:srgbClr val="1E6BFF"/>
                </a:solidFill>
                <a:latin typeface="Arial" pitchFamily="34" charset="0"/>
                <a:ea typeface="Arial" pitchFamily="34" charset="-122"/>
                <a:cs typeface="Arial" pitchFamily="34" charset="-120"/>
              </a:rPr>
              <a:t>60.7–63.7%</a:t>
            </a:r>
            <a:endParaRPr lang="en-US" sz="2200" dirty="0"/>
          </a:p>
        </p:txBody>
      </p:sp>
      <p:sp>
        <p:nvSpPr>
          <p:cNvPr id="12" name="Text 8"/>
          <p:cNvSpPr txBox="1"/>
          <p:nvPr/>
        </p:nvSpPr>
        <p:spPr>
          <a:xfrm>
            <a:off x="4114800" y="5458968"/>
            <a:ext cx="278892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of sentences contain emoji</a:t>
            </a:r>
            <a:endParaRPr lang="en-US" sz="1200" dirty="0"/>
          </a:p>
        </p:txBody>
      </p:sp>
      <p:sp>
        <p:nvSpPr>
          <p:cNvPr id="13" name="Shape 9"/>
          <p:cNvSpPr/>
          <p:nvPr/>
        </p:nvSpPr>
        <p:spPr>
          <a:xfrm>
            <a:off x="7452360" y="1645920"/>
            <a:ext cx="4279392" cy="4206240"/>
          </a:xfrm>
          <a:prstGeom prst="roundRect">
            <a:avLst>
              <a:gd name="adj" fmla="val 173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0" descr="/home/aigca/ALEXIS/Posters/build/pptx/icons/gauge_blue.png">    </p:cNvPr>
          <p:cNvPicPr>
            <a:picLocks noChangeAspect="1"/>
          </p:cNvPicPr>
          <p:nvPr/>
        </p:nvPicPr>
        <p:blipFill>
          <a:blip r:embed="rId1"/>
          <a:stretch>
            <a:fillRect/>
          </a:stretch>
        </p:blipFill>
        <p:spPr>
          <a:xfrm>
            <a:off x="7680960" y="1856232"/>
            <a:ext cx="329184" cy="329184"/>
          </a:xfrm>
          <a:prstGeom prst="rect">
            <a:avLst/>
          </a:prstGeom>
        </p:spPr>
      </p:pic>
      <p:sp>
        <p:nvSpPr>
          <p:cNvPr id="15" name="Text 10"/>
          <p:cNvSpPr txBox="1"/>
          <p:nvPr/>
        </p:nvSpPr>
        <p:spPr>
          <a:xfrm>
            <a:off x="8138160" y="1847088"/>
            <a:ext cx="3474720" cy="365760"/>
          </a:xfrm>
          <a:prstGeom prst="rect">
            <a:avLst/>
          </a:prstGeom>
          <a:noFill/>
          <a:ln/>
        </p:spPr>
        <p:txBody>
          <a:bodyPr wrap="square" lIns="0" tIns="0" rIns="0" bIns="0" rtlCol="0" anchor="ctr"/>
          <a:lstStyle/>
          <a:p>
            <a:pPr indent="0" marL="0">
              <a:buNone/>
            </a:pPr>
            <a:r>
              <a:rPr lang="en-US" sz="1500" b="1" dirty="0">
                <a:solidFill>
                  <a:srgbClr val="0D1117"/>
                </a:solidFill>
                <a:latin typeface="Arial" pitchFamily="34" charset="0"/>
                <a:ea typeface="Arial" pitchFamily="34" charset="-122"/>
                <a:cs typeface="Arial" pitchFamily="34" charset="-120"/>
              </a:rPr>
              <a:t>How systems are scored</a:t>
            </a:r>
            <a:endParaRPr lang="en-US" sz="1500" dirty="0"/>
          </a:p>
        </p:txBody>
      </p:sp>
      <p:sp>
        <p:nvSpPr>
          <p:cNvPr id="16" name="Text 11"/>
          <p:cNvSpPr txBox="1"/>
          <p:nvPr/>
        </p:nvSpPr>
        <p:spPr>
          <a:xfrm>
            <a:off x="7680960" y="2468880"/>
            <a:ext cx="914400" cy="365760"/>
          </a:xfrm>
          <a:prstGeom prst="rect">
            <a:avLst/>
          </a:prstGeom>
          <a:noFill/>
          <a:ln/>
        </p:spPr>
        <p:txBody>
          <a:bodyPr wrap="square" lIns="0" tIns="0" rIns="0" bIns="0" rtlCol="0" anchor="t"/>
          <a:lstStyle/>
          <a:p>
            <a:pPr indent="0" marL="0">
              <a:buNone/>
            </a:pPr>
            <a:r>
              <a:rPr lang="en-US" sz="1600" b="1" dirty="0">
                <a:solidFill>
                  <a:srgbClr val="1E6BFF"/>
                </a:solidFill>
                <a:latin typeface="Arial" pitchFamily="34" charset="0"/>
                <a:ea typeface="Arial" pitchFamily="34" charset="-122"/>
                <a:cs typeface="Arial" pitchFamily="34" charset="-120"/>
              </a:rPr>
              <a:t>SSA</a:t>
            </a:r>
            <a:endParaRPr lang="en-US" sz="1600" dirty="0"/>
          </a:p>
        </p:txBody>
      </p:sp>
      <p:sp>
        <p:nvSpPr>
          <p:cNvPr id="17" name="Text 12"/>
          <p:cNvSpPr txBox="1"/>
          <p:nvPr/>
        </p:nvSpPr>
        <p:spPr>
          <a:xfrm>
            <a:off x="8549640" y="2468880"/>
            <a:ext cx="3017520" cy="96012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Sentiment Style Accuracy: the fraction of outputs a fixed CAMeLBERT sentiment classifier assigns to the target polarity.</a:t>
            </a:r>
            <a:endParaRPr lang="en-US" sz="1250" dirty="0"/>
          </a:p>
        </p:txBody>
      </p:sp>
      <p:sp>
        <p:nvSpPr>
          <p:cNvPr id="18" name="Text 13"/>
          <p:cNvSpPr txBox="1"/>
          <p:nvPr/>
        </p:nvSpPr>
        <p:spPr>
          <a:xfrm>
            <a:off x="7680960" y="3520440"/>
            <a:ext cx="914400" cy="365760"/>
          </a:xfrm>
          <a:prstGeom prst="rect">
            <a:avLst/>
          </a:prstGeom>
          <a:noFill/>
          <a:ln/>
        </p:spPr>
        <p:txBody>
          <a:bodyPr wrap="square" lIns="0" tIns="0" rIns="0" bIns="0" rtlCol="0" anchor="t"/>
          <a:lstStyle/>
          <a:p>
            <a:pPr indent="0" marL="0">
              <a:buNone/>
            </a:pPr>
            <a:r>
              <a:rPr lang="en-US" sz="1600" b="1" dirty="0">
                <a:solidFill>
                  <a:srgbClr val="1E6BFF"/>
                </a:solidFill>
                <a:latin typeface="Arial" pitchFamily="34" charset="0"/>
                <a:ea typeface="Arial" pitchFamily="34" charset="-122"/>
                <a:cs typeface="Arial" pitchFamily="34" charset="-120"/>
              </a:rPr>
              <a:t>BLEU</a:t>
            </a:r>
            <a:endParaRPr lang="en-US" sz="1600" dirty="0"/>
          </a:p>
        </p:txBody>
      </p:sp>
      <p:sp>
        <p:nvSpPr>
          <p:cNvPr id="19" name="Text 14"/>
          <p:cNvSpPr txBox="1"/>
          <p:nvPr/>
        </p:nvSpPr>
        <p:spPr>
          <a:xfrm>
            <a:off x="8549640" y="3520440"/>
            <a:ext cx="3017520" cy="96012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n-gram overlap with the human rewrite.</a:t>
            </a:r>
            <a:endParaRPr lang="en-US" sz="1250" dirty="0"/>
          </a:p>
        </p:txBody>
      </p:sp>
      <p:sp>
        <p:nvSpPr>
          <p:cNvPr id="20" name="Text 15"/>
          <p:cNvSpPr txBox="1"/>
          <p:nvPr/>
        </p:nvSpPr>
        <p:spPr>
          <a:xfrm>
            <a:off x="7680960" y="4572000"/>
            <a:ext cx="914400" cy="365760"/>
          </a:xfrm>
          <a:prstGeom prst="rect">
            <a:avLst/>
          </a:prstGeom>
          <a:noFill/>
          <a:ln/>
        </p:spPr>
        <p:txBody>
          <a:bodyPr wrap="square" lIns="0" tIns="0" rIns="0" bIns="0" rtlCol="0" anchor="t"/>
          <a:lstStyle/>
          <a:p>
            <a:pPr indent="0" marL="0">
              <a:buNone/>
            </a:pPr>
            <a:r>
              <a:rPr lang="en-US" sz="1600" b="1" dirty="0">
                <a:solidFill>
                  <a:srgbClr val="1E6BFF"/>
                </a:solidFill>
                <a:latin typeface="Arial" pitchFamily="34" charset="0"/>
                <a:ea typeface="Arial" pitchFamily="34" charset="-122"/>
                <a:cs typeface="Arial" pitchFamily="34" charset="-120"/>
              </a:rPr>
              <a:t>chrF</a:t>
            </a:r>
            <a:endParaRPr lang="en-US" sz="1600" dirty="0"/>
          </a:p>
        </p:txBody>
      </p:sp>
      <p:sp>
        <p:nvSpPr>
          <p:cNvPr id="21" name="Text 16"/>
          <p:cNvSpPr txBox="1"/>
          <p:nvPr/>
        </p:nvSpPr>
        <p:spPr>
          <a:xfrm>
            <a:off x="8549640" y="4572000"/>
            <a:ext cx="3017520" cy="960120"/>
          </a:xfrm>
          <a:prstGeom prst="rect">
            <a:avLst/>
          </a:prstGeom>
          <a:noFill/>
          <a:ln/>
        </p:spPr>
        <p:txBody>
          <a:bodyPr wrap="square" lIns="0" tIns="0" rIns="0" bIns="0" rtlCol="0" anchor="t"/>
          <a:lstStyle/>
          <a:p>
            <a:pPr indent="0" marL="0">
              <a:buNone/>
            </a:pPr>
            <a:r>
              <a:rPr lang="en-US" sz="1250" dirty="0">
                <a:solidFill>
                  <a:srgbClr val="5A6472"/>
                </a:solidFill>
                <a:latin typeface="Calibri" pitchFamily="34" charset="0"/>
                <a:ea typeface="Calibri" pitchFamily="34" charset="-122"/>
                <a:cs typeface="Calibri" pitchFamily="34" charset="-120"/>
              </a:rPr>
              <a:t>character n-gram F-score against the human rewrite.</a:t>
            </a:r>
            <a:endParaRPr lang="en-US" sz="12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CORPUS ANALYSIS</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Three data properties, three components</a:t>
            </a:r>
            <a:endParaRPr lang="en-US" sz="2800" dirty="0"/>
          </a:p>
        </p:txBody>
      </p:sp>
      <p:sp>
        <p:nvSpPr>
          <p:cNvPr id="5" name="Shape 2"/>
          <p:cNvSpPr/>
          <p:nvPr/>
        </p:nvSpPr>
        <p:spPr>
          <a:xfrm>
            <a:off x="457200" y="1645920"/>
            <a:ext cx="5120640" cy="1280160"/>
          </a:xfrm>
          <a:prstGeom prst="roundRect">
            <a:avLst>
              <a:gd name="adj" fmla="val 571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6" name="Text 3"/>
          <p:cNvSpPr txBox="1"/>
          <p:nvPr/>
        </p:nvSpPr>
        <p:spPr>
          <a:xfrm>
            <a:off x="685800" y="1783080"/>
            <a:ext cx="1554480" cy="1005840"/>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91.0%</a:t>
            </a:r>
            <a:endParaRPr lang="en-US" sz="3000" dirty="0"/>
          </a:p>
        </p:txBody>
      </p:sp>
      <p:sp>
        <p:nvSpPr>
          <p:cNvPr id="7" name="Text 4"/>
          <p:cNvSpPr txBox="1"/>
          <p:nvPr/>
        </p:nvSpPr>
        <p:spPr>
          <a:xfrm>
            <a:off x="2286000" y="1783080"/>
            <a:ext cx="3154680" cy="1005840"/>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of training pairs stay within two words of the source’s length; character similarity has median 0.82 (IQR 0.75–0.88)</a:t>
            </a:r>
            <a:endParaRPr lang="en-US" sz="1250" dirty="0"/>
          </a:p>
        </p:txBody>
      </p:sp>
      <p:pic>
        <p:nvPicPr>
          <p:cNvPr id="8" name="Image 0" descr="/home/aigca/ALEXIS/Posters/build/pptx/media/chevron.png">    </p:cNvPr>
          <p:cNvPicPr>
            <a:picLocks noChangeAspect="1"/>
          </p:cNvPicPr>
          <p:nvPr/>
        </p:nvPicPr>
        <p:blipFill>
          <a:blip r:embed="rId1"/>
          <a:stretch>
            <a:fillRect/>
          </a:stretch>
        </p:blipFill>
        <p:spPr>
          <a:xfrm>
            <a:off x="5760720" y="2148840"/>
            <a:ext cx="274320" cy="274320"/>
          </a:xfrm>
          <a:prstGeom prst="rect">
            <a:avLst/>
          </a:prstGeom>
        </p:spPr>
      </p:pic>
      <p:sp>
        <p:nvSpPr>
          <p:cNvPr id="9" name="Shape 5"/>
          <p:cNvSpPr/>
          <p:nvPr/>
        </p:nvSpPr>
        <p:spPr>
          <a:xfrm>
            <a:off x="6263640" y="1645920"/>
            <a:ext cx="5468112" cy="1280160"/>
          </a:xfrm>
          <a:prstGeom prst="roundRect">
            <a:avLst>
              <a:gd name="adj" fmla="val 5714"/>
            </a:avLst>
          </a:prstGeom>
          <a:solidFill>
            <a:srgbClr val="EAF1FF"/>
          </a:solidFill>
          <a:ln w="9525">
            <a:solidFill>
              <a:srgbClr val="C9DAFD"/>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pen_blue.png">    </p:cNvPr>
          <p:cNvPicPr>
            <a:picLocks noChangeAspect="1"/>
          </p:cNvPicPr>
          <p:nvPr/>
        </p:nvPicPr>
        <p:blipFill>
          <a:blip r:embed="rId2"/>
          <a:stretch>
            <a:fillRect/>
          </a:stretch>
        </p:blipFill>
        <p:spPr>
          <a:xfrm>
            <a:off x="6464808" y="1847088"/>
            <a:ext cx="329184" cy="329184"/>
          </a:xfrm>
          <a:prstGeom prst="rect">
            <a:avLst/>
          </a:prstGeom>
        </p:spPr>
      </p:pic>
      <p:sp>
        <p:nvSpPr>
          <p:cNvPr id="11" name="Text 6"/>
          <p:cNvSpPr txBox="1"/>
          <p:nvPr/>
        </p:nvSpPr>
        <p:spPr>
          <a:xfrm>
            <a:off x="6922008" y="1837944"/>
            <a:ext cx="4608576"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Local edit, not paraphrase</a:t>
            </a:r>
            <a:endParaRPr lang="en-US" sz="1400" dirty="0"/>
          </a:p>
        </p:txBody>
      </p:sp>
      <p:sp>
        <p:nvSpPr>
          <p:cNvPr id="12" name="Text 7"/>
          <p:cNvSpPr txBox="1"/>
          <p:nvPr/>
        </p:nvSpPr>
        <p:spPr>
          <a:xfrm>
            <a:off x="6464808" y="2322576"/>
            <a:ext cx="5065776" cy="60350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An edit-tagging pool member and a chrF content term in the reranker</a:t>
            </a:r>
            <a:endParaRPr lang="en-US" sz="1250" dirty="0"/>
          </a:p>
        </p:txBody>
      </p:sp>
      <p:sp>
        <p:nvSpPr>
          <p:cNvPr id="13" name="Shape 8"/>
          <p:cNvSpPr/>
          <p:nvPr/>
        </p:nvSpPr>
        <p:spPr>
          <a:xfrm>
            <a:off x="457200" y="3108960"/>
            <a:ext cx="5120640" cy="1280160"/>
          </a:xfrm>
          <a:prstGeom prst="roundRect">
            <a:avLst>
              <a:gd name="adj" fmla="val 571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4" name="Text 9"/>
          <p:cNvSpPr txBox="1"/>
          <p:nvPr/>
        </p:nvSpPr>
        <p:spPr>
          <a:xfrm>
            <a:off x="685800" y="3246120"/>
            <a:ext cx="1554480" cy="1005840"/>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22.8%</a:t>
            </a:r>
            <a:endParaRPr lang="en-US" sz="3000" dirty="0"/>
          </a:p>
        </p:txBody>
      </p:sp>
      <p:sp>
        <p:nvSpPr>
          <p:cNvPr id="15" name="Text 10"/>
          <p:cNvSpPr txBox="1"/>
          <p:nvPr/>
        </p:nvSpPr>
        <p:spPr>
          <a:xfrm>
            <a:off x="2286000" y="3246120"/>
            <a:ext cx="3154680" cy="1005840"/>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of test sentences are byte-identical to a train or validation source</a:t>
            </a:r>
            <a:endParaRPr lang="en-US" sz="1250" dirty="0"/>
          </a:p>
        </p:txBody>
      </p:sp>
      <p:pic>
        <p:nvPicPr>
          <p:cNvPr id="16" name="Image 2" descr="/home/aigca/ALEXIS/Posters/build/pptx/media/chevron.png">    </p:cNvPr>
          <p:cNvPicPr>
            <a:picLocks noChangeAspect="1"/>
          </p:cNvPicPr>
          <p:nvPr/>
        </p:nvPicPr>
        <p:blipFill>
          <a:blip r:embed="rId3"/>
          <a:stretch>
            <a:fillRect/>
          </a:stretch>
        </p:blipFill>
        <p:spPr>
          <a:xfrm>
            <a:off x="5760720" y="3611880"/>
            <a:ext cx="274320" cy="274320"/>
          </a:xfrm>
          <a:prstGeom prst="rect">
            <a:avLst/>
          </a:prstGeom>
        </p:spPr>
      </p:pic>
      <p:sp>
        <p:nvSpPr>
          <p:cNvPr id="17" name="Shape 11"/>
          <p:cNvSpPr/>
          <p:nvPr/>
        </p:nvSpPr>
        <p:spPr>
          <a:xfrm>
            <a:off x="6263640" y="3108960"/>
            <a:ext cx="5468112" cy="1280160"/>
          </a:xfrm>
          <a:prstGeom prst="roundRect">
            <a:avLst>
              <a:gd name="adj" fmla="val 5714"/>
            </a:avLst>
          </a:prstGeom>
          <a:solidFill>
            <a:srgbClr val="EAF1FF"/>
          </a:solidFill>
          <a:ln w="9525">
            <a:solidFill>
              <a:srgbClr val="C9DAFD"/>
            </a:solidFill>
            <a:prstDash val="solid"/>
          </a:ln>
          <a:effectLst>
            <a:outerShdw sx="100000" sy="100000" kx="0" ky="0" algn="bl" rotWithShape="0" blurRad="101600" dist="25400" dir="5400000">
              <a:srgbClr val="0D1B3A">
                <a:alpha val="10000"/>
              </a:srgbClr>
            </a:outerShdw>
          </a:effectLst>
        </p:spPr>
      </p:sp>
      <p:pic>
        <p:nvPicPr>
          <p:cNvPr id="18" name="Image 3" descr="/home/aigca/ALEXIS/Posters/build/pptx/icons/search_blue.png">    </p:cNvPr>
          <p:cNvPicPr>
            <a:picLocks noChangeAspect="1"/>
          </p:cNvPicPr>
          <p:nvPr/>
        </p:nvPicPr>
        <p:blipFill>
          <a:blip r:embed="rId4"/>
          <a:stretch>
            <a:fillRect/>
          </a:stretch>
        </p:blipFill>
        <p:spPr>
          <a:xfrm>
            <a:off x="6464808" y="3310128"/>
            <a:ext cx="329184" cy="329184"/>
          </a:xfrm>
          <a:prstGeom prst="rect">
            <a:avLst/>
          </a:prstGeom>
        </p:spPr>
      </p:pic>
      <p:sp>
        <p:nvSpPr>
          <p:cNvPr id="19" name="Text 12"/>
          <p:cNvSpPr txBox="1"/>
          <p:nvPr/>
        </p:nvSpPr>
        <p:spPr>
          <a:xfrm>
            <a:off x="6922008" y="3300984"/>
            <a:ext cx="4608576"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Retrieval index</a:t>
            </a:r>
            <a:endParaRPr lang="en-US" sz="1400" dirty="0"/>
          </a:p>
        </p:txBody>
      </p:sp>
      <p:sp>
        <p:nvSpPr>
          <p:cNvPr id="20" name="Text 13"/>
          <p:cNvSpPr txBox="1"/>
          <p:nvPr/>
        </p:nvSpPr>
        <p:spPr>
          <a:xfrm>
            <a:off x="6464808" y="3785616"/>
            <a:ext cx="5065776" cy="60350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A gold rewrite already exists: a strong candidate at no modelling cost</a:t>
            </a:r>
            <a:endParaRPr lang="en-US" sz="1250" dirty="0"/>
          </a:p>
        </p:txBody>
      </p:sp>
      <p:sp>
        <p:nvSpPr>
          <p:cNvPr id="21" name="Shape 14"/>
          <p:cNvSpPr/>
          <p:nvPr/>
        </p:nvSpPr>
        <p:spPr>
          <a:xfrm>
            <a:off x="457200" y="4572000"/>
            <a:ext cx="5120640" cy="1280160"/>
          </a:xfrm>
          <a:prstGeom prst="roundRect">
            <a:avLst>
              <a:gd name="adj" fmla="val 571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22" name="Text 15"/>
          <p:cNvSpPr txBox="1"/>
          <p:nvPr/>
        </p:nvSpPr>
        <p:spPr>
          <a:xfrm>
            <a:off x="685800" y="4709160"/>
            <a:ext cx="1554480" cy="1005840"/>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323</a:t>
            </a:r>
            <a:endParaRPr lang="en-US" sz="3000" dirty="0"/>
          </a:p>
        </p:txBody>
      </p:sp>
      <p:sp>
        <p:nvSpPr>
          <p:cNvPr id="23" name="Text 16"/>
          <p:cNvSpPr txBox="1"/>
          <p:nvPr/>
        </p:nvSpPr>
        <p:spPr>
          <a:xfrm>
            <a:off x="2286000" y="4709160"/>
            <a:ext cx="3154680" cy="1005840"/>
          </a:xfrm>
          <a:prstGeom prst="rect">
            <a:avLst/>
          </a:prstGeom>
          <a:noFill/>
          <a:ln/>
        </p:spPr>
        <p:txBody>
          <a:bodyPr wrap="square" lIns="0" tIns="0" rIns="0" bIns="0" rtlCol="0" anchor="ctr"/>
          <a:lstStyle/>
          <a:p>
            <a:pPr indent="0" marL="0">
              <a:buNone/>
            </a:pPr>
            <a:r>
              <a:rPr lang="en-US" sz="1250" dirty="0">
                <a:solidFill>
                  <a:srgbClr val="5A6472"/>
                </a:solidFill>
                <a:latin typeface="Calibri" pitchFamily="34" charset="0"/>
                <a:ea typeface="Calibri" pitchFamily="34" charset="-122"/>
                <a:cs typeface="Calibri" pitchFamily="34" charset="-120"/>
              </a:rPr>
              <a:t>aligned emoji flips; short antonym pairs such as كريهة → جميلة (115 occurrences)</a:t>
            </a:r>
            <a:endParaRPr lang="en-US" sz="1250" dirty="0"/>
          </a:p>
        </p:txBody>
      </p:sp>
      <p:pic>
        <p:nvPicPr>
          <p:cNvPr id="24" name="Image 4" descr="/home/aigca/ALEXIS/Posters/build/pptx/media/chevron.png">    </p:cNvPr>
          <p:cNvPicPr>
            <a:picLocks noChangeAspect="1"/>
          </p:cNvPicPr>
          <p:nvPr/>
        </p:nvPicPr>
        <p:blipFill>
          <a:blip r:embed="rId5"/>
          <a:stretch>
            <a:fillRect/>
          </a:stretch>
        </p:blipFill>
        <p:spPr>
          <a:xfrm>
            <a:off x="5760720" y="5074920"/>
            <a:ext cx="274320" cy="274320"/>
          </a:xfrm>
          <a:prstGeom prst="rect">
            <a:avLst/>
          </a:prstGeom>
        </p:spPr>
      </p:pic>
      <p:sp>
        <p:nvSpPr>
          <p:cNvPr id="25" name="Shape 17"/>
          <p:cNvSpPr/>
          <p:nvPr/>
        </p:nvSpPr>
        <p:spPr>
          <a:xfrm>
            <a:off x="6263640" y="4572000"/>
            <a:ext cx="5468112" cy="1280160"/>
          </a:xfrm>
          <a:prstGeom prst="roundRect">
            <a:avLst>
              <a:gd name="adj" fmla="val 5714"/>
            </a:avLst>
          </a:prstGeom>
          <a:solidFill>
            <a:srgbClr val="EAF1FF"/>
          </a:solidFill>
          <a:ln w="9525">
            <a:solidFill>
              <a:srgbClr val="C9DAFD"/>
            </a:solidFill>
            <a:prstDash val="solid"/>
          </a:ln>
          <a:effectLst>
            <a:outerShdw sx="100000" sy="100000" kx="0" ky="0" algn="bl" rotWithShape="0" blurRad="101600" dist="25400" dir="5400000">
              <a:srgbClr val="0D1B3A">
                <a:alpha val="10000"/>
              </a:srgbClr>
            </a:outerShdw>
          </a:effectLst>
        </p:spPr>
      </p:sp>
      <p:pic>
        <p:nvPicPr>
          <p:cNvPr id="26" name="Image 5" descr="/home/aigca/ALEXIS/Posters/build/pptx/icons/repeat_blue.png">    </p:cNvPr>
          <p:cNvPicPr>
            <a:picLocks noChangeAspect="1"/>
          </p:cNvPicPr>
          <p:nvPr/>
        </p:nvPicPr>
        <p:blipFill>
          <a:blip r:embed="rId6"/>
          <a:stretch>
            <a:fillRect/>
          </a:stretch>
        </p:blipFill>
        <p:spPr>
          <a:xfrm>
            <a:off x="6464808" y="4773168"/>
            <a:ext cx="329184" cy="329184"/>
          </a:xfrm>
          <a:prstGeom prst="rect">
            <a:avLst/>
          </a:prstGeom>
        </p:spPr>
      </p:pic>
      <p:sp>
        <p:nvSpPr>
          <p:cNvPr id="27" name="Text 18"/>
          <p:cNvSpPr txBox="1"/>
          <p:nvPr/>
        </p:nvSpPr>
        <p:spPr>
          <a:xfrm>
            <a:off x="6922008" y="4764024"/>
            <a:ext cx="4608576"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Polarity-flip lexicons</a:t>
            </a:r>
            <a:endParaRPr lang="en-US" sz="1400" dirty="0"/>
          </a:p>
        </p:txBody>
      </p:sp>
      <p:sp>
        <p:nvSpPr>
          <p:cNvPr id="28" name="Text 19"/>
          <p:cNvSpPr txBox="1"/>
          <p:nvPr/>
        </p:nvSpPr>
        <p:spPr>
          <a:xfrm>
            <a:off x="6464808" y="5248656"/>
            <a:ext cx="5065776" cy="60350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A deterministic safety net for markers the neural models leave behind</a:t>
            </a:r>
            <a:endParaRPr lang="en-US" sz="12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822960" y="548640"/>
            <a:ext cx="8229600" cy="274320"/>
          </a:xfrm>
          <a:prstGeom prst="rect">
            <a:avLst/>
          </a:prstGeom>
          <a:noFill/>
          <a:ln/>
        </p:spPr>
        <p:txBody>
          <a:bodyPr wrap="square" lIns="0" tIns="0" rIns="0" bIns="0" rtlCol="0" anchor="ctr"/>
          <a:lstStyle/>
          <a:p>
            <a:pPr algn="l" indent="0" marL="0">
              <a:buNone/>
            </a:pPr>
            <a:r>
              <a:rPr lang="en-US" sz="1200" b="1" spc="100" kern="0" dirty="0">
                <a:solidFill>
                  <a:srgbClr val="22C3FF"/>
                </a:solidFill>
                <a:latin typeface="Arial" pitchFamily="34" charset="0"/>
                <a:ea typeface="Arial" pitchFamily="34" charset="-122"/>
                <a:cs typeface="Arial" pitchFamily="34" charset="-120"/>
              </a:rPr>
              <a:t>THE HIDDEN CATCH</a:t>
            </a:r>
            <a:endParaRPr lang="en-US" sz="1200" dirty="0"/>
          </a:p>
        </p:txBody>
      </p:sp>
      <p:sp>
        <p:nvSpPr>
          <p:cNvPr id="3" name="Text 1"/>
          <p:cNvSpPr/>
          <p:nvPr>
            <p:ph idx="104" type="title" hasCustomPrompt="1"/>
          </p:nvPr>
        </p:nvSpPr>
        <p:spPr>
          <a:xfrm>
            <a:off x="457200" y="1097280"/>
            <a:ext cx="11247120" cy="118872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The test set omits the source polarity</a:t>
            </a:r>
            <a:endParaRPr lang="en-US" sz="3000" dirty="0"/>
          </a:p>
        </p:txBody>
      </p:sp>
      <p:sp>
        <p:nvSpPr>
          <p:cNvPr id="5" name="Text 2"/>
          <p:cNvSpPr txBox="1"/>
          <p:nvPr/>
        </p:nvSpPr>
        <p:spPr>
          <a:xfrm>
            <a:off x="457200" y="2194560"/>
            <a:ext cx="10972800" cy="640080"/>
          </a:xfrm>
          <a:prstGeom prst="rect">
            <a:avLst/>
          </a:prstGeom>
          <a:noFill/>
          <a:ln/>
        </p:spPr>
        <p:txBody>
          <a:bodyPr wrap="square" lIns="0" tIns="0" rIns="0" bIns="0" rtlCol="0" anchor="t"/>
          <a:lstStyle/>
          <a:p>
            <a:pPr indent="0" marL="0">
              <a:buNone/>
            </a:pPr>
            <a:r>
              <a:rPr lang="en-US" sz="1500" i="1" dirty="0">
                <a:solidFill>
                  <a:srgbClr val="B8C4D6"/>
                </a:solidFill>
                <a:latin typeface="Calibri" pitchFamily="34" charset="0"/>
                <a:ea typeface="Calibri" pitchFamily="34" charset="-122"/>
                <a:cs typeface="Calibri" pitchFamily="34" charset="-120"/>
              </a:rPr>
              <a:t>The task description says it is given, and the training files contain it, but the test file does not: the target polarity has to be predicted first.</a:t>
            </a:r>
            <a:endParaRPr lang="en-US" sz="1500" dirty="0"/>
          </a:p>
        </p:txBody>
      </p:sp>
      <p:sp>
        <p:nvSpPr>
          <p:cNvPr id="6" name="Shape 3"/>
          <p:cNvSpPr/>
          <p:nvPr/>
        </p:nvSpPr>
        <p:spPr>
          <a:xfrm>
            <a:off x="457200" y="3154680"/>
            <a:ext cx="3611880" cy="2240280"/>
          </a:xfrm>
          <a:prstGeom prst="roundRect">
            <a:avLst>
              <a:gd name="adj" fmla="val 3265"/>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7" name="Text 4"/>
          <p:cNvSpPr txBox="1"/>
          <p:nvPr/>
        </p:nvSpPr>
        <p:spPr>
          <a:xfrm>
            <a:off x="685800" y="3319272"/>
            <a:ext cx="3154680" cy="566928"/>
          </a:xfrm>
          <a:prstGeom prst="rect">
            <a:avLst/>
          </a:prstGeom>
          <a:noFill/>
          <a:ln/>
        </p:spPr>
        <p:txBody>
          <a:bodyPr wrap="square" lIns="0" tIns="0" rIns="0" bIns="0" rtlCol="0" anchor="ctr"/>
          <a:lstStyle/>
          <a:p>
            <a:pPr indent="0" marL="0">
              <a:buNone/>
            </a:pPr>
            <a:r>
              <a:rPr lang="en-US" sz="3200" b="1" dirty="0">
                <a:solidFill>
                  <a:srgbClr val="E8A020"/>
                </a:solidFill>
                <a:latin typeface="Arial" pitchFamily="34" charset="0"/>
                <a:ea typeface="Arial" pitchFamily="34" charset="-122"/>
                <a:cs typeface="Arial" pitchFamily="34" charset="-120"/>
              </a:rPr>
              <a:t>74.3%</a:t>
            </a:r>
            <a:endParaRPr lang="en-US" sz="3200" dirty="0"/>
          </a:p>
        </p:txBody>
      </p:sp>
      <p:sp>
        <p:nvSpPr>
          <p:cNvPr id="8" name="Text 5"/>
          <p:cNvSpPr txBox="1"/>
          <p:nvPr/>
        </p:nvSpPr>
        <p:spPr>
          <a:xfrm>
            <a:off x="685800" y="390448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the grading classifier, zero-shot</a:t>
            </a:r>
            <a:endParaRPr lang="en-US" sz="1200" dirty="0"/>
          </a:p>
        </p:txBody>
      </p:sp>
      <p:sp>
        <p:nvSpPr>
          <p:cNvPr id="9" name="Text 6"/>
          <p:cNvSpPr txBox="1"/>
          <p:nvPr/>
        </p:nvSpPr>
        <p:spPr>
          <a:xfrm>
            <a:off x="685800" y="4160520"/>
            <a:ext cx="3154680" cy="114300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Roughly a quarter of the test set was being rewritten toward the wrong target, and no generator tuning could see it.</a:t>
            </a:r>
            <a:endParaRPr lang="en-US" sz="1150" dirty="0"/>
          </a:p>
        </p:txBody>
      </p:sp>
      <p:sp>
        <p:nvSpPr>
          <p:cNvPr id="10" name="Shape 7"/>
          <p:cNvSpPr/>
          <p:nvPr/>
        </p:nvSpPr>
        <p:spPr>
          <a:xfrm>
            <a:off x="4279392" y="3154680"/>
            <a:ext cx="3611880" cy="2240280"/>
          </a:xfrm>
          <a:prstGeom prst="roundRect">
            <a:avLst>
              <a:gd name="adj" fmla="val 3265"/>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11" name="Text 8"/>
          <p:cNvSpPr txBox="1"/>
          <p:nvPr/>
        </p:nvSpPr>
        <p:spPr>
          <a:xfrm>
            <a:off x="4507992" y="3319272"/>
            <a:ext cx="3154680" cy="566928"/>
          </a:xfrm>
          <a:prstGeom prst="rect">
            <a:avLst/>
          </a:prstGeom>
          <a:noFill/>
          <a:ln/>
        </p:spPr>
        <p:txBody>
          <a:bodyPr wrap="square" lIns="0" tIns="0" rIns="0" bIns="0" rtlCol="0" anchor="ctr"/>
          <a:lstStyle/>
          <a:p>
            <a:pPr indent="0" marL="0">
              <a:buNone/>
            </a:pPr>
            <a:r>
              <a:rPr lang="en-US" sz="3200" b="1" dirty="0">
                <a:solidFill>
                  <a:srgbClr val="22C3FF"/>
                </a:solidFill>
                <a:latin typeface="Arial" pitchFamily="34" charset="0"/>
                <a:ea typeface="Arial" pitchFamily="34" charset="-122"/>
                <a:cs typeface="Arial" pitchFamily="34" charset="-120"/>
              </a:rPr>
              <a:t>96.7%</a:t>
            </a:r>
            <a:endParaRPr lang="en-US" sz="3200" dirty="0"/>
          </a:p>
        </p:txBody>
      </p:sp>
      <p:sp>
        <p:nvSpPr>
          <p:cNvPr id="12" name="Text 9"/>
          <p:cNvSpPr txBox="1"/>
          <p:nvPr/>
        </p:nvSpPr>
        <p:spPr>
          <a:xfrm>
            <a:off x="4507992" y="390448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our fine-tuned classifier</a:t>
            </a:r>
            <a:endParaRPr lang="en-US" sz="1200" dirty="0"/>
          </a:p>
        </p:txBody>
      </p:sp>
      <p:sp>
        <p:nvSpPr>
          <p:cNvPr id="13" name="Text 10"/>
          <p:cNvSpPr txBox="1"/>
          <p:nvPr/>
        </p:nvSpPr>
        <p:spPr>
          <a:xfrm>
            <a:off x="4507992" y="4160520"/>
            <a:ext cx="3154680" cy="114300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Trained on the 7,716 labeled train + validation pairs.</a:t>
            </a:r>
            <a:endParaRPr lang="en-US" sz="1150" dirty="0"/>
          </a:p>
        </p:txBody>
      </p:sp>
      <p:sp>
        <p:nvSpPr>
          <p:cNvPr id="14" name="Shape 11"/>
          <p:cNvSpPr/>
          <p:nvPr/>
        </p:nvSpPr>
        <p:spPr>
          <a:xfrm>
            <a:off x="8101584" y="3154680"/>
            <a:ext cx="3611880" cy="2240280"/>
          </a:xfrm>
          <a:prstGeom prst="roundRect">
            <a:avLst>
              <a:gd name="adj" fmla="val 3265"/>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15" name="Text 12"/>
          <p:cNvSpPr txBox="1"/>
          <p:nvPr/>
        </p:nvSpPr>
        <p:spPr>
          <a:xfrm>
            <a:off x="8330184" y="3319272"/>
            <a:ext cx="3154680" cy="566928"/>
          </a:xfrm>
          <a:prstGeom prst="rect">
            <a:avLst/>
          </a:prstGeom>
          <a:noFill/>
          <a:ln/>
        </p:spPr>
        <p:txBody>
          <a:bodyPr wrap="square" lIns="0" tIns="0" rIns="0" bIns="0" rtlCol="0" anchor="ctr"/>
          <a:lstStyle/>
          <a:p>
            <a:pPr indent="0" marL="0">
              <a:buNone/>
            </a:pPr>
            <a:r>
              <a:rPr lang="en-US" sz="3200" b="1" dirty="0">
                <a:solidFill>
                  <a:srgbClr val="22C3FF"/>
                </a:solidFill>
                <a:latin typeface="Arial" pitchFamily="34" charset="0"/>
                <a:ea typeface="Arial" pitchFamily="34" charset="-122"/>
                <a:cs typeface="Arial" pitchFamily="34" charset="-120"/>
              </a:rPr>
              <a:t>97.3%</a:t>
            </a:r>
            <a:endParaRPr lang="en-US" sz="3200" dirty="0"/>
          </a:p>
        </p:txBody>
      </p:sp>
      <p:sp>
        <p:nvSpPr>
          <p:cNvPr id="16" name="Text 13"/>
          <p:cNvSpPr txBox="1"/>
          <p:nvPr/>
        </p:nvSpPr>
        <p:spPr>
          <a:xfrm>
            <a:off x="8330184" y="390448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a 50/50 vote of both</a:t>
            </a:r>
            <a:endParaRPr lang="en-US" sz="1200" dirty="0"/>
          </a:p>
        </p:txBody>
      </p:sp>
      <p:sp>
        <p:nvSpPr>
          <p:cNvPr id="17" name="Text 14"/>
          <p:cNvSpPr txBox="1"/>
          <p:nvPr/>
        </p:nvSpPr>
        <p:spPr>
          <a:xfrm>
            <a:off x="8330184" y="4160520"/>
            <a:ext cx="3154680" cy="114300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The two fail in different places, so the vote beats either one.</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SOURCE-POLARITY DETECTION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A dedicated classifier fixes the target</a:t>
            </a:r>
            <a:endParaRPr lang="en-US" sz="2800" dirty="0"/>
          </a:p>
        </p:txBody>
      </p:sp>
      <p:sp>
        <p:nvSpPr>
          <p:cNvPr id="5" name="Shape 2"/>
          <p:cNvSpPr/>
          <p:nvPr/>
        </p:nvSpPr>
        <p:spPr>
          <a:xfrm>
            <a:off x="457200" y="1600200"/>
            <a:ext cx="6949440" cy="4526280"/>
          </a:xfrm>
          <a:prstGeom prst="roundRect">
            <a:avLst>
              <a:gd name="adj" fmla="val 161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graphicFrame>
        <p:nvGraphicFramePr>
          <p:cNvPr id="6" name="Chart 0" descr=""/>
          <p:cNvGraphicFramePr/>
          <p:nvPr/>
        </p:nvGraphicFramePr>
        <p:xfrm>
          <a:off x="640080" y="1737360"/>
          <a:ext cx="6583680" cy="425196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726680" y="1600200"/>
            <a:ext cx="4005072"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8" name="Text 4"/>
          <p:cNvSpPr txBox="1"/>
          <p:nvPr/>
        </p:nvSpPr>
        <p:spPr>
          <a:xfrm>
            <a:off x="7955280" y="1764792"/>
            <a:ext cx="3547872" cy="566928"/>
          </a:xfrm>
          <a:prstGeom prst="rect">
            <a:avLst/>
          </a:prstGeom>
          <a:noFill/>
          <a:ln/>
        </p:spPr>
        <p:txBody>
          <a:bodyPr wrap="square" lIns="0" tIns="0" rIns="0" bIns="0" rtlCol="0" anchor="ctr"/>
          <a:lstStyle/>
          <a:p>
            <a:pPr indent="0" marL="0">
              <a:buNone/>
            </a:pPr>
            <a:r>
              <a:rPr lang="en-US" sz="3200" b="1" dirty="0">
                <a:solidFill>
                  <a:srgbClr val="1E6BFF"/>
                </a:solidFill>
                <a:latin typeface="Arial" pitchFamily="34" charset="0"/>
                <a:ea typeface="Arial" pitchFamily="34" charset="-122"/>
                <a:cs typeface="Arial" pitchFamily="34" charset="-120"/>
              </a:rPr>
              <a:t>+0.155</a:t>
            </a:r>
            <a:endParaRPr lang="en-US" sz="3200" dirty="0"/>
          </a:p>
        </p:txBody>
      </p:sp>
      <p:sp>
        <p:nvSpPr>
          <p:cNvPr id="9" name="Text 5"/>
          <p:cNvSpPr txBox="1"/>
          <p:nvPr/>
        </p:nvSpPr>
        <p:spPr>
          <a:xfrm>
            <a:off x="7955280" y="2350008"/>
            <a:ext cx="354787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SSA, our largest single gain</a:t>
            </a:r>
            <a:endParaRPr lang="en-US" sz="1200" dirty="0"/>
          </a:p>
        </p:txBody>
      </p:sp>
      <p:sp>
        <p:nvSpPr>
          <p:cNvPr id="10" name="Text 6"/>
          <p:cNvSpPr txBox="1"/>
          <p:nvPr/>
        </p:nvSpPr>
        <p:spPr>
          <a:xfrm>
            <a:off x="7955280" y="2606040"/>
            <a:ext cx="3547872"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0.7887 → 0.9436 on the official leaderboard</a:t>
            </a:r>
            <a:endParaRPr lang="en-US" sz="1150" dirty="0"/>
          </a:p>
        </p:txBody>
      </p:sp>
      <p:sp>
        <p:nvSpPr>
          <p:cNvPr id="11" name="Shape 7"/>
          <p:cNvSpPr/>
          <p:nvPr/>
        </p:nvSpPr>
        <p:spPr>
          <a:xfrm>
            <a:off x="7726680" y="3383280"/>
            <a:ext cx="4005072" cy="2743200"/>
          </a:xfrm>
          <a:prstGeom prst="roundRect">
            <a:avLst>
              <a:gd name="adj" fmla="val 266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2" name="Image 0" descr="/home/aigca/ALEXIS/Posters/build/pptx/icons/alert_amber.png">    </p:cNvPr>
          <p:cNvPicPr>
            <a:picLocks noChangeAspect="1"/>
          </p:cNvPicPr>
          <p:nvPr/>
        </p:nvPicPr>
        <p:blipFill>
          <a:blip r:embed="rId2"/>
          <a:stretch>
            <a:fillRect/>
          </a:stretch>
        </p:blipFill>
        <p:spPr>
          <a:xfrm>
            <a:off x="7927848" y="3584448"/>
            <a:ext cx="329184" cy="329184"/>
          </a:xfrm>
          <a:prstGeom prst="rect">
            <a:avLst/>
          </a:prstGeom>
        </p:spPr>
      </p:pic>
      <p:sp>
        <p:nvSpPr>
          <p:cNvPr id="13" name="Text 8"/>
          <p:cNvSpPr txBox="1"/>
          <p:nvPr/>
        </p:nvSpPr>
        <p:spPr>
          <a:xfrm>
            <a:off x="8385048" y="3575304"/>
            <a:ext cx="3145536"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Why it matters</a:t>
            </a:r>
            <a:endParaRPr lang="en-US" sz="1400" dirty="0"/>
          </a:p>
        </p:txBody>
      </p:sp>
      <p:sp>
        <p:nvSpPr>
          <p:cNvPr id="14" name="Text 9"/>
          <p:cNvSpPr txBox="1"/>
          <p:nvPr/>
        </p:nvSpPr>
        <p:spPr>
          <a:xfrm>
            <a:off x="7927848" y="4059936"/>
            <a:ext cx="3602736" cy="206654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If the source polarity is wrong, the system rewrites a negative sentence to be more negative, and no beam width or reranking weight recovers from that.</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01</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The System</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Detect the polarity, pool candidates, rerank, repair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ARCHITECTURE</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Three stages</a:t>
            </a:r>
            <a:endParaRPr lang="en-US" sz="2800" dirty="0"/>
          </a:p>
        </p:txBody>
      </p:sp>
      <p:sp>
        <p:nvSpPr>
          <p:cNvPr id="5" name="Shape 2"/>
          <p:cNvSpPr/>
          <p:nvPr/>
        </p:nvSpPr>
        <p:spPr>
          <a:xfrm>
            <a:off x="457200" y="1691640"/>
            <a:ext cx="3017520" cy="3520440"/>
          </a:xfrm>
          <a:prstGeom prst="roundRect">
            <a:avLst>
              <a:gd name="adj" fmla="val 2424"/>
            </a:avLst>
          </a:prstGeom>
          <a:solidFill>
            <a:srgbClr val="EAF1FF"/>
          </a:solidFill>
          <a:ln w="9525">
            <a:solidFill>
              <a:srgbClr val="1E6BFF"/>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target_blue.png">    </p:cNvPr>
          <p:cNvPicPr>
            <a:picLocks noChangeAspect="1"/>
          </p:cNvPicPr>
          <p:nvPr/>
        </p:nvPicPr>
        <p:blipFill>
          <a:blip r:embed="rId1"/>
          <a:stretch>
            <a:fillRect/>
          </a:stretch>
        </p:blipFill>
        <p:spPr>
          <a:xfrm>
            <a:off x="658368" y="1892808"/>
            <a:ext cx="329184" cy="329184"/>
          </a:xfrm>
          <a:prstGeom prst="rect">
            <a:avLst/>
          </a:prstGeom>
        </p:spPr>
      </p:pic>
      <p:sp>
        <p:nvSpPr>
          <p:cNvPr id="7" name="Text 3"/>
          <p:cNvSpPr txBox="1"/>
          <p:nvPr/>
        </p:nvSpPr>
        <p:spPr>
          <a:xfrm>
            <a:off x="1115568" y="1883664"/>
            <a:ext cx="21579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1  Detect</a:t>
            </a:r>
            <a:endParaRPr lang="en-US" sz="1400" dirty="0"/>
          </a:p>
        </p:txBody>
      </p:sp>
      <p:sp>
        <p:nvSpPr>
          <p:cNvPr id="8" name="Text 4"/>
          <p:cNvSpPr txBox="1"/>
          <p:nvPr/>
        </p:nvSpPr>
        <p:spPr>
          <a:xfrm>
            <a:off x="658368" y="2368296"/>
            <a:ext cx="2615184" cy="2843784"/>
          </a:xfrm>
          <a:prstGeom prst="rect">
            <a:avLst/>
          </a:prstGeom>
          <a:noFill/>
          <a:ln/>
        </p:spPr>
        <p:txBody>
          <a:bodyPr wrap="square" lIns="0" tIns="0" rIns="0" bIns="0" rtlCol="0" anchor="t"/>
          <a:lstStyle/>
          <a:p>
            <a:pPr indent="0" marL="0">
              <a:spcAft>
                <a:spcPts val="400"/>
              </a:spcAft>
              <a:buNone/>
            </a:pPr>
            <a:r>
              <a:rPr lang="en-US" sz="1300" dirty="0">
                <a:solidFill>
                  <a:srgbClr val="5A6472"/>
                </a:solidFill>
                <a:latin typeface="Calibri" pitchFamily="34" charset="0"/>
                <a:ea typeface="Calibri" pitchFamily="34" charset="-122"/>
                <a:cs typeface="Calibri" pitchFamily="34" charset="-120"/>
              </a:rPr>
              <a:t>Predict the source polarity (dedicated + official classifier vote, 97.3%). The opposite label is the target t that everything downstream aims at.</a:t>
            </a:r>
            <a:endParaRPr lang="en-US" sz="1300" dirty="0"/>
          </a:p>
        </p:txBody>
      </p:sp>
      <p:pic>
        <p:nvPicPr>
          <p:cNvPr id="9" name="Image 1" descr="/home/aigca/ALEXIS/Posters/build/pptx/media/chevron.png">    </p:cNvPr>
          <p:cNvPicPr>
            <a:picLocks noChangeAspect="1"/>
          </p:cNvPicPr>
          <p:nvPr/>
        </p:nvPicPr>
        <p:blipFill>
          <a:blip r:embed="rId2"/>
          <a:stretch>
            <a:fillRect/>
          </a:stretch>
        </p:blipFill>
        <p:spPr>
          <a:xfrm>
            <a:off x="3566160" y="3291840"/>
            <a:ext cx="274320" cy="274320"/>
          </a:xfrm>
          <a:prstGeom prst="rect">
            <a:avLst/>
          </a:prstGeom>
        </p:spPr>
      </p:pic>
      <p:sp>
        <p:nvSpPr>
          <p:cNvPr id="10" name="Shape 5"/>
          <p:cNvSpPr/>
          <p:nvPr/>
        </p:nvSpPr>
        <p:spPr>
          <a:xfrm>
            <a:off x="3931920" y="1691640"/>
            <a:ext cx="4434840" cy="3520440"/>
          </a:xfrm>
          <a:prstGeom prst="roundRect">
            <a:avLst>
              <a:gd name="adj" fmla="val 2078"/>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1" name="Image 2" descr="/home/aigca/ALEXIS/Posters/build/pptx/icons/boxes_blue.png">    </p:cNvPr>
          <p:cNvPicPr>
            <a:picLocks noChangeAspect="1"/>
          </p:cNvPicPr>
          <p:nvPr/>
        </p:nvPicPr>
        <p:blipFill>
          <a:blip r:embed="rId3"/>
          <a:stretch>
            <a:fillRect/>
          </a:stretch>
        </p:blipFill>
        <p:spPr>
          <a:xfrm>
            <a:off x="4133088" y="1892808"/>
            <a:ext cx="329184" cy="329184"/>
          </a:xfrm>
          <a:prstGeom prst="rect">
            <a:avLst/>
          </a:prstGeom>
        </p:spPr>
      </p:pic>
      <p:sp>
        <p:nvSpPr>
          <p:cNvPr id="12" name="Text 6"/>
          <p:cNvSpPr txBox="1"/>
          <p:nvPr/>
        </p:nvSpPr>
        <p:spPr>
          <a:xfrm>
            <a:off x="4590288" y="1883664"/>
            <a:ext cx="3566160"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2  Candidate pool</a:t>
            </a:r>
            <a:endParaRPr lang="en-US" sz="1400" dirty="0"/>
          </a:p>
        </p:txBody>
      </p:sp>
      <p:sp>
        <p:nvSpPr>
          <p:cNvPr id="13" name="Text 7"/>
          <p:cNvSpPr txBox="1"/>
          <p:nvPr/>
        </p:nvSpPr>
        <p:spPr>
          <a:xfrm>
            <a:off x="4133088" y="2395728"/>
            <a:ext cx="1508760" cy="502920"/>
          </a:xfrm>
          <a:prstGeom prst="rect">
            <a:avLst/>
          </a:prstGeom>
          <a:noFill/>
          <a:ln/>
        </p:spPr>
        <p:txBody>
          <a:bodyPr wrap="square" lIns="0" tIns="0" rIns="0" bIns="0" rtlCol="0" anchor="t"/>
          <a:lstStyle/>
          <a:p>
            <a:pPr indent="0" marL="0">
              <a:buNone/>
            </a:pPr>
            <a:r>
              <a:rPr lang="en-US" sz="1200" b="1" dirty="0">
                <a:solidFill>
                  <a:srgbClr val="1553CC"/>
                </a:solidFill>
                <a:latin typeface="Arial" pitchFamily="34" charset="0"/>
                <a:ea typeface="Arial" pitchFamily="34" charset="-122"/>
                <a:cs typeface="Arial" pitchFamily="34" charset="-120"/>
              </a:rPr>
              <a:t>mT5-base</a:t>
            </a:r>
            <a:endParaRPr lang="en-US" sz="1200" dirty="0"/>
          </a:p>
        </p:txBody>
      </p:sp>
      <p:sp>
        <p:nvSpPr>
          <p:cNvPr id="14" name="Text 8"/>
          <p:cNvSpPr txBox="1"/>
          <p:nvPr/>
        </p:nvSpPr>
        <p:spPr>
          <a:xfrm>
            <a:off x="5669280" y="2395728"/>
            <a:ext cx="2560320" cy="530352"/>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10 beams; 13 if source predicted negative; fine-tuned + DPO</a:t>
            </a:r>
            <a:endParaRPr lang="en-US" sz="1150" dirty="0"/>
          </a:p>
        </p:txBody>
      </p:sp>
      <p:sp>
        <p:nvSpPr>
          <p:cNvPr id="15" name="Text 9"/>
          <p:cNvSpPr txBox="1"/>
          <p:nvPr/>
        </p:nvSpPr>
        <p:spPr>
          <a:xfrm>
            <a:off x="4133088" y="2944368"/>
            <a:ext cx="1508760" cy="502920"/>
          </a:xfrm>
          <a:prstGeom prst="rect">
            <a:avLst/>
          </a:prstGeom>
          <a:noFill/>
          <a:ln/>
        </p:spPr>
        <p:txBody>
          <a:bodyPr wrap="square" lIns="0" tIns="0" rIns="0" bIns="0" rtlCol="0" anchor="t"/>
          <a:lstStyle/>
          <a:p>
            <a:pPr indent="0" marL="0">
              <a:buNone/>
            </a:pPr>
            <a:r>
              <a:rPr lang="en-US" sz="1200" b="1" dirty="0">
                <a:solidFill>
                  <a:srgbClr val="1553CC"/>
                </a:solidFill>
                <a:latin typeface="Arial" pitchFamily="34" charset="0"/>
                <a:ea typeface="Arial" pitchFamily="34" charset="-122"/>
                <a:cs typeface="Arial" pitchFamily="34" charset="-120"/>
              </a:rPr>
              <a:t>mT5-large</a:t>
            </a:r>
            <a:endParaRPr lang="en-US" sz="1200" dirty="0"/>
          </a:p>
        </p:txBody>
      </p:sp>
      <p:sp>
        <p:nvSpPr>
          <p:cNvPr id="16" name="Text 10"/>
          <p:cNvSpPr txBox="1"/>
          <p:nvPr/>
        </p:nvSpPr>
        <p:spPr>
          <a:xfrm>
            <a:off x="5669280" y="2944368"/>
            <a:ext cx="2560320" cy="530352"/>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6 beams</a:t>
            </a:r>
            <a:endParaRPr lang="en-US" sz="1150" dirty="0"/>
          </a:p>
        </p:txBody>
      </p:sp>
      <p:sp>
        <p:nvSpPr>
          <p:cNvPr id="17" name="Text 11"/>
          <p:cNvSpPr txBox="1"/>
          <p:nvPr/>
        </p:nvSpPr>
        <p:spPr>
          <a:xfrm>
            <a:off x="4133088" y="3493008"/>
            <a:ext cx="1508760" cy="502920"/>
          </a:xfrm>
          <a:prstGeom prst="rect">
            <a:avLst/>
          </a:prstGeom>
          <a:noFill/>
          <a:ln/>
        </p:spPr>
        <p:txBody>
          <a:bodyPr wrap="square" lIns="0" tIns="0" rIns="0" bIns="0" rtlCol="0" anchor="t"/>
          <a:lstStyle/>
          <a:p>
            <a:pPr indent="0" marL="0">
              <a:buNone/>
            </a:pPr>
            <a:r>
              <a:rPr lang="en-US" sz="1200" b="1" dirty="0">
                <a:solidFill>
                  <a:srgbClr val="1553CC"/>
                </a:solidFill>
                <a:latin typeface="Arial" pitchFamily="34" charset="0"/>
                <a:ea typeface="Arial" pitchFamily="34" charset="-122"/>
                <a:cs typeface="Arial" pitchFamily="34" charset="-120"/>
              </a:rPr>
              <a:t>NLLB-200 (600M)</a:t>
            </a:r>
            <a:endParaRPr lang="en-US" sz="1200" dirty="0"/>
          </a:p>
        </p:txBody>
      </p:sp>
      <p:sp>
        <p:nvSpPr>
          <p:cNvPr id="18" name="Text 12"/>
          <p:cNvSpPr txBox="1"/>
          <p:nvPr/>
        </p:nvSpPr>
        <p:spPr>
          <a:xfrm>
            <a:off x="5669280" y="3493008"/>
            <a:ext cx="2560320" cy="530352"/>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3 beams; Arabic → Arabic “translator”</a:t>
            </a:r>
            <a:endParaRPr lang="en-US" sz="1150" dirty="0"/>
          </a:p>
        </p:txBody>
      </p:sp>
      <p:sp>
        <p:nvSpPr>
          <p:cNvPr id="19" name="Text 13"/>
          <p:cNvSpPr txBox="1"/>
          <p:nvPr/>
        </p:nvSpPr>
        <p:spPr>
          <a:xfrm>
            <a:off x="4133088" y="4041648"/>
            <a:ext cx="1508760" cy="502920"/>
          </a:xfrm>
          <a:prstGeom prst="rect">
            <a:avLst/>
          </a:prstGeom>
          <a:noFill/>
          <a:ln/>
        </p:spPr>
        <p:txBody>
          <a:bodyPr wrap="square" lIns="0" tIns="0" rIns="0" bIns="0" rtlCol="0" anchor="t"/>
          <a:lstStyle/>
          <a:p>
            <a:pPr indent="0" marL="0">
              <a:buNone/>
            </a:pPr>
            <a:r>
              <a:rPr lang="en-US" sz="1200" b="1" dirty="0">
                <a:solidFill>
                  <a:srgbClr val="1553CC"/>
                </a:solidFill>
                <a:latin typeface="Arial" pitchFamily="34" charset="0"/>
                <a:ea typeface="Arial" pitchFamily="34" charset="-122"/>
                <a:cs typeface="Arial" pitchFamily="34" charset="-120"/>
              </a:rPr>
              <a:t>Edit tagger</a:t>
            </a:r>
            <a:endParaRPr lang="en-US" sz="1200" dirty="0"/>
          </a:p>
        </p:txBody>
      </p:sp>
      <p:sp>
        <p:nvSpPr>
          <p:cNvPr id="20" name="Text 14"/>
          <p:cNvSpPr txBox="1"/>
          <p:nvPr/>
        </p:nvSpPr>
        <p:spPr>
          <a:xfrm>
            <a:off x="5669280" y="4041648"/>
            <a:ext cx="2560320" cy="530352"/>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KEEP / DELETE / REPLACE; reaches the reference for 90.6% of validation sources</a:t>
            </a:r>
            <a:endParaRPr lang="en-US" sz="1150" dirty="0"/>
          </a:p>
        </p:txBody>
      </p:sp>
      <p:sp>
        <p:nvSpPr>
          <p:cNvPr id="21" name="Text 15"/>
          <p:cNvSpPr txBox="1"/>
          <p:nvPr/>
        </p:nvSpPr>
        <p:spPr>
          <a:xfrm>
            <a:off x="4133088" y="4590288"/>
            <a:ext cx="1508760" cy="502920"/>
          </a:xfrm>
          <a:prstGeom prst="rect">
            <a:avLst/>
          </a:prstGeom>
          <a:noFill/>
          <a:ln/>
        </p:spPr>
        <p:txBody>
          <a:bodyPr wrap="square" lIns="0" tIns="0" rIns="0" bIns="0" rtlCol="0" anchor="t"/>
          <a:lstStyle/>
          <a:p>
            <a:pPr indent="0" marL="0">
              <a:buNone/>
            </a:pPr>
            <a:r>
              <a:rPr lang="en-US" sz="1200" b="1" dirty="0">
                <a:solidFill>
                  <a:srgbClr val="B57400"/>
                </a:solidFill>
                <a:latin typeface="Arial" pitchFamily="34" charset="0"/>
                <a:ea typeface="Arial" pitchFamily="34" charset="-122"/>
                <a:cs typeface="Arial" pitchFamily="34" charset="-120"/>
              </a:rPr>
              <a:t>Retrieval</a:t>
            </a:r>
            <a:endParaRPr lang="en-US" sz="1200" dirty="0"/>
          </a:p>
        </p:txBody>
      </p:sp>
      <p:sp>
        <p:nvSpPr>
          <p:cNvPr id="22" name="Text 16"/>
          <p:cNvSpPr txBox="1"/>
          <p:nvPr/>
        </p:nvSpPr>
        <p:spPr>
          <a:xfrm>
            <a:off x="5669280" y="4590288"/>
            <a:ext cx="2560320" cy="530352"/>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gold rewrite of any training source within 0.90 cosine</a:t>
            </a:r>
            <a:endParaRPr lang="en-US" sz="1150" dirty="0"/>
          </a:p>
        </p:txBody>
      </p:sp>
      <p:pic>
        <p:nvPicPr>
          <p:cNvPr id="23" name="Image 3" descr="/home/aigca/ALEXIS/Posters/build/pptx/media/chevron.png">    </p:cNvPr>
          <p:cNvPicPr>
            <a:picLocks noChangeAspect="1"/>
          </p:cNvPicPr>
          <p:nvPr/>
        </p:nvPicPr>
        <p:blipFill>
          <a:blip r:embed="rId4"/>
          <a:stretch>
            <a:fillRect/>
          </a:stretch>
        </p:blipFill>
        <p:spPr>
          <a:xfrm>
            <a:off x="8458200" y="3291840"/>
            <a:ext cx="274320" cy="274320"/>
          </a:xfrm>
          <a:prstGeom prst="rect">
            <a:avLst/>
          </a:prstGeom>
        </p:spPr>
      </p:pic>
      <p:sp>
        <p:nvSpPr>
          <p:cNvPr id="24" name="Shape 17"/>
          <p:cNvSpPr/>
          <p:nvPr/>
        </p:nvSpPr>
        <p:spPr>
          <a:xfrm>
            <a:off x="8823960" y="1691640"/>
            <a:ext cx="2907792" cy="3520440"/>
          </a:xfrm>
          <a:prstGeom prst="roundRect">
            <a:avLst>
              <a:gd name="adj" fmla="val 2516"/>
            </a:avLst>
          </a:prstGeom>
          <a:solidFill>
            <a:srgbClr val="0D1117"/>
          </a:solidFill>
          <a:ln w="9525">
            <a:solidFill>
              <a:srgbClr val="0D1117"/>
            </a:solidFill>
            <a:prstDash val="solid"/>
          </a:ln>
          <a:effectLst>
            <a:outerShdw sx="100000" sy="100000" kx="0" ky="0" algn="bl" rotWithShape="0" blurRad="101600" dist="25400" dir="5400000">
              <a:srgbClr val="0D1B3A">
                <a:alpha val="35000"/>
              </a:srgbClr>
            </a:outerShdw>
          </a:effectLst>
        </p:spPr>
      </p:sp>
      <p:pic>
        <p:nvPicPr>
          <p:cNvPr id="25" name="Image 4" descr="/home/aigca/ALEXIS/Posters/build/pptx/icons/sliders_blue.png">    </p:cNvPr>
          <p:cNvPicPr>
            <a:picLocks noChangeAspect="1"/>
          </p:cNvPicPr>
          <p:nvPr/>
        </p:nvPicPr>
        <p:blipFill>
          <a:blip r:embed="rId5"/>
          <a:stretch>
            <a:fillRect/>
          </a:stretch>
        </p:blipFill>
        <p:spPr>
          <a:xfrm>
            <a:off x="9025128" y="1892808"/>
            <a:ext cx="329184" cy="329184"/>
          </a:xfrm>
          <a:prstGeom prst="rect">
            <a:avLst/>
          </a:prstGeom>
        </p:spPr>
      </p:pic>
      <p:sp>
        <p:nvSpPr>
          <p:cNvPr id="26" name="Text 18"/>
          <p:cNvSpPr txBox="1"/>
          <p:nvPr/>
        </p:nvSpPr>
        <p:spPr>
          <a:xfrm>
            <a:off x="9482328" y="1883664"/>
            <a:ext cx="2048256"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  Rerank, repair</a:t>
            </a:r>
            <a:endParaRPr lang="en-US" sz="1400" dirty="0"/>
          </a:p>
        </p:txBody>
      </p:sp>
      <p:sp>
        <p:nvSpPr>
          <p:cNvPr id="27" name="Text 19"/>
          <p:cNvSpPr txBox="1"/>
          <p:nvPr/>
        </p:nvSpPr>
        <p:spPr>
          <a:xfrm>
            <a:off x="9025128" y="2368296"/>
            <a:ext cx="2505456" cy="2843784"/>
          </a:xfrm>
          <a:prstGeom prst="rect">
            <a:avLst/>
          </a:prstGeom>
          <a:noFill/>
          <a:ln/>
        </p:spPr>
        <p:txBody>
          <a:bodyPr wrap="square" lIns="0" tIns="0" rIns="0" bIns="0" rtlCol="0" anchor="t"/>
          <a:lstStyle/>
          <a:p>
            <a:pPr indent="0" marL="0">
              <a:spcAft>
                <a:spcPts val="400"/>
              </a:spcAft>
              <a:buNone/>
            </a:pPr>
            <a:r>
              <a:rPr lang="en-US" sz="1300" dirty="0">
                <a:solidFill>
                  <a:srgbClr val="D5DEEC"/>
                </a:solidFill>
                <a:latin typeface="Calibri" pitchFamily="34" charset="0"/>
                <a:ea typeface="Calibri" pitchFamily="34" charset="-122"/>
                <a:cs typeface="Calibri" pitchFamily="34" charset="-120"/>
              </a:rPr>
              <a:t>Every candidate, retrieved ones included, is scored with one function; the best is returned. A deterministic pass then flips any emoji or antonym that still carries the source polarity.</a:t>
            </a:r>
            <a:endParaRPr lang="en-US" sz="1300" dirty="0"/>
          </a:p>
        </p:txBody>
      </p:sp>
      <p:sp>
        <p:nvSpPr>
          <p:cNvPr id="28" name="Shape 20"/>
          <p:cNvSpPr/>
          <p:nvPr/>
        </p:nvSpPr>
        <p:spPr>
          <a:xfrm>
            <a:off x="457200" y="5440680"/>
            <a:ext cx="11274552" cy="566928"/>
          </a:xfrm>
          <a:prstGeom prst="roundRect">
            <a:avLst>
              <a:gd name="adj" fmla="val 12903"/>
            </a:avLst>
          </a:prstGeom>
          <a:solidFill>
            <a:srgbClr val="EAF1FF"/>
          </a:solidFill>
          <a:ln w="9525">
            <a:solidFill>
              <a:srgbClr val="C9DAFD"/>
            </a:solidFill>
            <a:prstDash val="solid"/>
          </a:ln>
        </p:spPr>
      </p:sp>
      <p:pic>
        <p:nvPicPr>
          <p:cNvPr id="29" name="Image 5" descr="/home/aigca/ALEXIS/Posters/build/pptx/icons/search_blue.png">    </p:cNvPr>
          <p:cNvPicPr>
            <a:picLocks noChangeAspect="1"/>
          </p:cNvPicPr>
          <p:nvPr/>
        </p:nvPicPr>
        <p:blipFill>
          <a:blip r:embed="rId6"/>
          <a:stretch>
            <a:fillRect/>
          </a:stretch>
        </p:blipFill>
        <p:spPr>
          <a:xfrm>
            <a:off x="640080" y="5586984"/>
            <a:ext cx="274320" cy="274320"/>
          </a:xfrm>
          <a:prstGeom prst="rect">
            <a:avLst/>
          </a:prstGeom>
        </p:spPr>
      </p:pic>
      <p:sp>
        <p:nvSpPr>
          <p:cNvPr id="30" name="Text 21"/>
          <p:cNvSpPr txBox="1"/>
          <p:nvPr/>
        </p:nvSpPr>
        <p:spPr>
          <a:xfrm>
            <a:off x="1051560" y="5440680"/>
            <a:ext cx="10497312" cy="566928"/>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Retrieved near-duplicates are ordinary candidates, not a bypass: they must win on the same terms as generated ones.</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ONE SCORING FUNCTION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The same score reranks candidates and rewards DPO</a:t>
            </a:r>
            <a:endParaRPr lang="en-US" sz="2800" dirty="0"/>
          </a:p>
        </p:txBody>
      </p:sp>
      <p:sp>
        <p:nvSpPr>
          <p:cNvPr id="5" name="Shape 2"/>
          <p:cNvSpPr/>
          <p:nvPr/>
        </p:nvSpPr>
        <p:spPr>
          <a:xfrm>
            <a:off x="457200" y="1600200"/>
            <a:ext cx="11274552" cy="1325880"/>
          </a:xfrm>
          <a:prstGeom prst="roundRect">
            <a:avLst>
              <a:gd name="adj" fmla="val 5517"/>
            </a:avLst>
          </a:prstGeom>
          <a:solidFill>
            <a:srgbClr val="0D1117"/>
          </a:solidFill>
          <a:ln w="9525">
            <a:solidFill>
              <a:srgbClr val="0D1117"/>
            </a:solidFill>
            <a:prstDash val="solid"/>
          </a:ln>
        </p:spPr>
      </p:sp>
      <p:sp>
        <p:nvSpPr>
          <p:cNvPr id="6" name="Text 3"/>
          <p:cNvSpPr txBox="1"/>
          <p:nvPr/>
        </p:nvSpPr>
        <p:spPr>
          <a:xfrm>
            <a:off x="640080" y="1691640"/>
            <a:ext cx="10881360" cy="640080"/>
          </a:xfrm>
          <a:prstGeom prst="rect">
            <a:avLst/>
          </a:prstGeom>
          <a:noFill/>
          <a:ln/>
        </p:spPr>
        <p:txBody>
          <a:bodyPr wrap="square" lIns="0" tIns="0" rIns="0" bIns="0" rtlCol="0" anchor="ctr"/>
          <a:lstStyle/>
          <a:p>
            <a:pPr algn="ctr" indent="0" marL="0">
              <a:buNone/>
            </a:pPr>
            <a:r>
              <a:rPr lang="en-US" sz="2800" dirty="0">
                <a:solidFill>
                  <a:srgbClr val="FFFFFF"/>
                </a:solidFill>
                <a:latin typeface="Consolas" pitchFamily="34" charset="0"/>
                <a:ea typeface="Consolas" pitchFamily="34" charset="-122"/>
                <a:cs typeface="Consolas" pitchFamily="34" charset="-120"/>
              </a:rPr>
              <a:t>s(y) = </a:t>
            </a:r>
            <a:pPr algn="ctr" indent="0" marL="0">
              <a:buNone/>
            </a:pPr>
            <a:r>
              <a:rPr lang="en-US" sz="2800" dirty="0">
                <a:solidFill>
                  <a:srgbClr val="FFC861"/>
                </a:solidFill>
                <a:latin typeface="Consolas" pitchFamily="34" charset="0"/>
                <a:ea typeface="Consolas" pitchFamily="34" charset="-122"/>
                <a:cs typeface="Consolas" pitchFamily="34" charset="-120"/>
              </a:rPr>
              <a:t>α</a:t>
            </a:r>
            <a:pPr algn="ctr" indent="0" marL="0">
              <a:buNone/>
            </a:pPr>
            <a:r>
              <a:rPr lang="en-US" sz="2800" dirty="0">
                <a:solidFill>
                  <a:srgbClr val="22C3FF"/>
                </a:solidFill>
                <a:latin typeface="Consolas" pitchFamily="34" charset="0"/>
                <a:ea typeface="Consolas" pitchFamily="34" charset="-122"/>
                <a:cs typeface="Consolas" pitchFamily="34" charset="-120"/>
              </a:rPr>
              <a:t> · p_t(y) + (1 − </a:t>
            </a:r>
            <a:pPr algn="ctr" indent="0" marL="0">
              <a:buNone/>
            </a:pPr>
            <a:r>
              <a:rPr lang="en-US" sz="2800" dirty="0">
                <a:solidFill>
                  <a:srgbClr val="FFC861"/>
                </a:solidFill>
                <a:latin typeface="Consolas" pitchFamily="34" charset="0"/>
                <a:ea typeface="Consolas" pitchFamily="34" charset="-122"/>
                <a:cs typeface="Consolas" pitchFamily="34" charset="-120"/>
              </a:rPr>
              <a:t>α</a:t>
            </a:r>
            <a:pPr algn="ctr" indent="0" marL="0">
              <a:buNone/>
            </a:pPr>
            <a:r>
              <a:rPr lang="en-US" sz="2800" dirty="0">
                <a:solidFill>
                  <a:srgbClr val="22C3FF"/>
                </a:solidFill>
                <a:latin typeface="Consolas" pitchFamily="34" charset="0"/>
                <a:ea typeface="Consolas" pitchFamily="34" charset="-122"/>
                <a:cs typeface="Consolas" pitchFamily="34" charset="-120"/>
              </a:rPr>
              <a:t>) · chrF(y, x)</a:t>
            </a:r>
            <a:endParaRPr lang="en-US" sz="2800" dirty="0"/>
          </a:p>
        </p:txBody>
      </p:sp>
      <p:sp>
        <p:nvSpPr>
          <p:cNvPr id="7" name="Text 4"/>
          <p:cNvSpPr txBox="1"/>
          <p:nvPr/>
        </p:nvSpPr>
        <p:spPr>
          <a:xfrm>
            <a:off x="640080" y="2359152"/>
            <a:ext cx="10881360" cy="411480"/>
          </a:xfrm>
          <a:prstGeom prst="rect">
            <a:avLst/>
          </a:prstGeom>
          <a:noFill/>
          <a:ln/>
        </p:spPr>
        <p:txBody>
          <a:bodyPr wrap="square" lIns="0" tIns="0" rIns="0" bIns="0" rtlCol="0" anchor="t"/>
          <a:lstStyle/>
          <a:p>
            <a:pPr algn="ctr" indent="0" marL="0">
              <a:buNone/>
            </a:pPr>
            <a:r>
              <a:rPr lang="en-US" sz="1300" dirty="0">
                <a:solidFill>
                  <a:srgbClr val="9FB3D0"/>
                </a:solidFill>
                <a:latin typeface="Calibri" pitchFamily="34" charset="0"/>
                <a:ea typeface="Calibri" pitchFamily="34" charset="-122"/>
                <a:cs typeface="Calibri" pitchFamily="34" charset="-120"/>
              </a:rPr>
              <a:t>α = 0.85 when reranking  ·  p_t: the grading classifier’s raw three-way softmax probability of the target polarity  ·  x: source, y: candidate</a:t>
            </a:r>
            <a:endParaRPr lang="en-US" sz="1300" dirty="0"/>
          </a:p>
        </p:txBody>
      </p:sp>
      <p:sp>
        <p:nvSpPr>
          <p:cNvPr id="8" name="Shape 5"/>
          <p:cNvSpPr/>
          <p:nvPr/>
        </p:nvSpPr>
        <p:spPr>
          <a:xfrm>
            <a:off x="457200" y="3200400"/>
            <a:ext cx="5532120" cy="2286000"/>
          </a:xfrm>
          <a:prstGeom prst="roundRect">
            <a:avLst>
              <a:gd name="adj" fmla="val 32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9" name="Image 0" descr="/home/aigca/ALEXIS/Posters/build/pptx/icons/list_blue.png">    </p:cNvPr>
          <p:cNvPicPr>
            <a:picLocks noChangeAspect="1"/>
          </p:cNvPicPr>
          <p:nvPr/>
        </p:nvPicPr>
        <p:blipFill>
          <a:blip r:embed="rId1"/>
          <a:stretch>
            <a:fillRect/>
          </a:stretch>
        </p:blipFill>
        <p:spPr>
          <a:xfrm>
            <a:off x="658368" y="3401568"/>
            <a:ext cx="329184" cy="329184"/>
          </a:xfrm>
          <a:prstGeom prst="rect">
            <a:avLst/>
          </a:prstGeom>
        </p:spPr>
      </p:pic>
      <p:sp>
        <p:nvSpPr>
          <p:cNvPr id="10" name="Text 6"/>
          <p:cNvSpPr txBox="1"/>
          <p:nvPr/>
        </p:nvSpPr>
        <p:spPr>
          <a:xfrm>
            <a:off x="1115568" y="339242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Reranker</a:t>
            </a:r>
            <a:endParaRPr lang="en-US" sz="1400" dirty="0"/>
          </a:p>
        </p:txBody>
      </p:sp>
      <p:sp>
        <p:nvSpPr>
          <p:cNvPr id="11" name="Text 7"/>
          <p:cNvSpPr txBox="1"/>
          <p:nvPr/>
        </p:nvSpPr>
        <p:spPr>
          <a:xfrm>
            <a:off x="658368" y="3877056"/>
            <a:ext cx="5129784" cy="1609344"/>
          </a:xfrm>
          <a:prstGeom prst="rect">
            <a:avLst/>
          </a:prstGeom>
          <a:noFill/>
          <a:ln/>
        </p:spPr>
        <p:txBody>
          <a:bodyPr wrap="square" lIns="0" tIns="0" rIns="0" bIns="0" rtlCol="0" anchor="t"/>
          <a:lstStyle/>
          <a:p>
            <a:pPr indent="0" marL="0">
              <a:spcAft>
                <a:spcPts val="400"/>
              </a:spcAft>
              <a:buNone/>
            </a:pPr>
            <a:r>
              <a:rPr lang="en-US" sz="1350" dirty="0">
                <a:solidFill>
                  <a:srgbClr val="5A6472"/>
                </a:solidFill>
                <a:latin typeface="Calibri" pitchFamily="34" charset="0"/>
                <a:ea typeface="Calibri" pitchFamily="34" charset="-122"/>
                <a:cs typeface="Calibri" pitchFamily="34" charset="-120"/>
              </a:rPr>
              <a:t>Every candidate from the pool is ranked by s(y) and the top one is returned. Putting the grading classifier inside the score is deliberate: from here on, agreeing with the grader is the objective.</a:t>
            </a:r>
            <a:endParaRPr lang="en-US" sz="1350" dirty="0"/>
          </a:p>
        </p:txBody>
      </p:sp>
      <p:sp>
        <p:nvSpPr>
          <p:cNvPr id="12" name="Shape 8"/>
          <p:cNvSpPr/>
          <p:nvPr/>
        </p:nvSpPr>
        <p:spPr>
          <a:xfrm>
            <a:off x="6199632" y="3200400"/>
            <a:ext cx="5532120" cy="2286000"/>
          </a:xfrm>
          <a:prstGeom prst="roundRect">
            <a:avLst>
              <a:gd name="adj" fmla="val 32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3" name="Image 1" descr="/home/aigca/ALEXIS/Posters/build/pptx/icons/trend_blue.png">    </p:cNvPr>
          <p:cNvPicPr>
            <a:picLocks noChangeAspect="1"/>
          </p:cNvPicPr>
          <p:nvPr/>
        </p:nvPicPr>
        <p:blipFill>
          <a:blip r:embed="rId2"/>
          <a:stretch>
            <a:fillRect/>
          </a:stretch>
        </p:blipFill>
        <p:spPr>
          <a:xfrm>
            <a:off x="6400800" y="3401568"/>
            <a:ext cx="329184" cy="329184"/>
          </a:xfrm>
          <a:prstGeom prst="rect">
            <a:avLst/>
          </a:prstGeom>
        </p:spPr>
      </p:pic>
      <p:sp>
        <p:nvSpPr>
          <p:cNvPr id="14" name="Text 9"/>
          <p:cNvSpPr txBox="1"/>
          <p:nvPr/>
        </p:nvSpPr>
        <p:spPr>
          <a:xfrm>
            <a:off x="6858000" y="339242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DPO reward</a:t>
            </a:r>
            <a:endParaRPr lang="en-US" sz="1400" dirty="0"/>
          </a:p>
        </p:txBody>
      </p:sp>
      <p:sp>
        <p:nvSpPr>
          <p:cNvPr id="15" name="Text 10"/>
          <p:cNvSpPr txBox="1"/>
          <p:nvPr/>
        </p:nvSpPr>
        <p:spPr>
          <a:xfrm>
            <a:off x="6400800" y="3877056"/>
            <a:ext cx="5129784" cy="1609344"/>
          </a:xfrm>
          <a:prstGeom prst="rect">
            <a:avLst/>
          </a:prstGeom>
          <a:noFill/>
          <a:ln/>
        </p:spPr>
        <p:txBody>
          <a:bodyPr wrap="square" lIns="0" tIns="0" rIns="0" bIns="0" rtlCol="0" anchor="t"/>
          <a:lstStyle/>
          <a:p>
            <a:pPr indent="0" marL="0">
              <a:spcAft>
                <a:spcPts val="400"/>
              </a:spcAft>
              <a:buNone/>
            </a:pPr>
            <a:r>
              <a:rPr lang="en-US" sz="1350" dirty="0">
                <a:solidFill>
                  <a:srgbClr val="5A6472"/>
                </a:solidFill>
                <a:latin typeface="Calibri" pitchFamily="34" charset="0"/>
                <a:ea typeface="Calibri" pitchFamily="34" charset="-122"/>
                <a:cs typeface="Calibri" pitchFamily="34" charset="-120"/>
              </a:rPr>
              <a:t>4,500 preference examples, 7 epochs: sample 4 candidates, add the gold rewrite, score all five with s(y). An early reward dropped neutral and renormalised two classes, which the model exploited; the raw three-way probability closes the loophole.</a:t>
            </a:r>
            <a:endParaRPr lang="en-US" sz="1350" dirty="0"/>
          </a:p>
        </p:txBody>
      </p:sp>
      <p:sp>
        <p:nvSpPr>
          <p:cNvPr id="16" name="Shape 11"/>
          <p:cNvSpPr/>
          <p:nvPr/>
        </p:nvSpPr>
        <p:spPr>
          <a:xfrm>
            <a:off x="457200" y="5669280"/>
            <a:ext cx="11274552" cy="502920"/>
          </a:xfrm>
          <a:prstGeom prst="roundRect">
            <a:avLst>
              <a:gd name="adj" fmla="val 14545"/>
            </a:avLst>
          </a:prstGeom>
          <a:solidFill>
            <a:srgbClr val="FFF4E6"/>
          </a:solidFill>
          <a:ln w="9525">
            <a:solidFill>
              <a:srgbClr val="F3D19A"/>
            </a:solidFill>
            <a:prstDash val="solid"/>
          </a:ln>
        </p:spPr>
      </p:sp>
      <p:pic>
        <p:nvPicPr>
          <p:cNvPr id="17" name="Image 2" descr="/home/aigca/ALEXIS/Posters/build/pptx/icons/alert_amber.png">    </p:cNvPr>
          <p:cNvPicPr>
            <a:picLocks noChangeAspect="1"/>
          </p:cNvPicPr>
          <p:nvPr/>
        </p:nvPicPr>
        <p:blipFill>
          <a:blip r:embed="rId3"/>
          <a:stretch>
            <a:fillRect/>
          </a:stretch>
        </p:blipFill>
        <p:spPr>
          <a:xfrm>
            <a:off x="640080" y="5783580"/>
            <a:ext cx="274320" cy="274320"/>
          </a:xfrm>
          <a:prstGeom prst="rect">
            <a:avLst/>
          </a:prstGeom>
        </p:spPr>
      </p:pic>
      <p:sp>
        <p:nvSpPr>
          <p:cNvPr id="18" name="Text 12"/>
          <p:cNvSpPr txBox="1"/>
          <p:nvPr/>
        </p:nvSpPr>
        <p:spPr>
          <a:xfrm>
            <a:off x="1051560" y="5669280"/>
            <a:ext cx="10497312" cy="50292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Optimising hard against an imperfect proxy degrades true performance (reward over-optimisation, Gao et al., 2023).</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PRIMARY GENERATOR</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Details that mattered for mT5-base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486400" cy="914400"/>
        </p:xfrm>
        <a:graphic>
          <a:graphicData uri="http://schemas.openxmlformats.org/drawingml/2006/table">
            <a:tbl>
              <a:tblPr/>
              <a:tblGrid>
                <a:gridCol w="2926080"/>
                <a:gridCol w="1280160"/>
                <a:gridCol w="1280160"/>
              </a:tblGrid>
              <a:tr h="548640">
                <a:tc>
                  <a:txBody>
                    <a:bodyPr/>
                    <a:lstStyle/>
                    <a:p>
                      <a:pPr algn="l" indent="0" marL="0">
                        <a:buNone/>
                      </a:pPr>
                      <a:r>
                        <a:rPr lang="en-US" sz="1450" b="1" spc="50" kern="0" dirty="0">
                          <a:solidFill>
                            <a:srgbClr val="FFFFFF"/>
                          </a:solidFill>
                          <a:latin typeface="Arial" pitchFamily="34" charset="0"/>
                          <a:ea typeface="Arial" pitchFamily="34" charset="-122"/>
                          <a:cs typeface="Arial" pitchFamily="34" charset="-120"/>
                        </a:rPr>
                        <a:t>Direction (validation)</a:t>
                      </a:r>
                      <a:endParaRPr lang="en-US" sz="14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450" b="1" spc="50" kern="0" dirty="0">
                          <a:solidFill>
                            <a:srgbClr val="FFFFFF"/>
                          </a:solidFill>
                          <a:latin typeface="Arial" pitchFamily="34" charset="0"/>
                          <a:ea typeface="Arial" pitchFamily="34" charset="-122"/>
                          <a:cs typeface="Arial" pitchFamily="34" charset="-120"/>
                        </a:rPr>
                        <a:t>chrF</a:t>
                      </a:r>
                      <a:endParaRPr lang="en-US" sz="14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450" b="1" spc="50" kern="0" dirty="0">
                          <a:solidFill>
                            <a:srgbClr val="FFFFFF"/>
                          </a:solidFill>
                          <a:latin typeface="Arial" pitchFamily="34" charset="0"/>
                          <a:ea typeface="Arial" pitchFamily="34" charset="-122"/>
                          <a:cs typeface="Arial" pitchFamily="34" charset="-120"/>
                        </a:rPr>
                        <a:t>SSA</a:t>
                      </a:r>
                      <a:endParaRPr lang="en-US" sz="14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548640">
                <a:tc>
                  <a:txBody>
                    <a:bodyPr/>
                    <a:lstStyle/>
                    <a:p>
                      <a:pPr algn="l" indent="0" marL="0">
                        <a:buNone/>
                      </a:pPr>
                      <a:r>
                        <a:rPr lang="en-US" sz="1600" b="1" dirty="0">
                          <a:solidFill>
                            <a:srgbClr val="0D1117"/>
                          </a:solidFill>
                          <a:latin typeface="Calibri" pitchFamily="34" charset="0"/>
                          <a:ea typeface="Calibri" pitchFamily="34" charset="-122"/>
                          <a:cs typeface="Calibri" pitchFamily="34" charset="-120"/>
                        </a:rPr>
                        <a:t>Negative → positive</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600" b="1" dirty="0">
                          <a:solidFill>
                            <a:srgbClr val="0D1117"/>
                          </a:solidFill>
                          <a:latin typeface="Calibri" pitchFamily="34" charset="0"/>
                          <a:ea typeface="Calibri" pitchFamily="34" charset="-122"/>
                          <a:cs typeface="Calibri" pitchFamily="34" charset="-120"/>
                        </a:rPr>
                        <a:t>78.94</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600" b="1" dirty="0">
                          <a:solidFill>
                            <a:srgbClr val="0D1117"/>
                          </a:solidFill>
                          <a:latin typeface="Calibri" pitchFamily="34" charset="0"/>
                          <a:ea typeface="Calibri" pitchFamily="34" charset="-122"/>
                          <a:cs typeface="Calibri" pitchFamily="34" charset="-120"/>
                        </a:rPr>
                        <a:t>94.37%</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r>
              <a:tr h="548640">
                <a:tc>
                  <a:txBody>
                    <a:bodyPr/>
                    <a:lstStyle/>
                    <a:p>
                      <a:pPr algn="l" indent="0" marL="0">
                        <a:buNone/>
                      </a:pPr>
                      <a:r>
                        <a:rPr lang="en-US" sz="1600" dirty="0">
                          <a:solidFill>
                            <a:srgbClr val="0D1117"/>
                          </a:solidFill>
                          <a:latin typeface="Calibri" pitchFamily="34" charset="0"/>
                          <a:ea typeface="Calibri" pitchFamily="34" charset="-122"/>
                          <a:cs typeface="Calibri" pitchFamily="34" charset="-120"/>
                        </a:rPr>
                        <a:t>Positive → negative</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D1117"/>
                          </a:solidFill>
                          <a:latin typeface="Calibri" pitchFamily="34" charset="0"/>
                          <a:ea typeface="Calibri" pitchFamily="34" charset="-122"/>
                          <a:cs typeface="Calibri" pitchFamily="34" charset="-120"/>
                        </a:rPr>
                        <a:t>84.27</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D1117"/>
                          </a:solidFill>
                          <a:latin typeface="Calibri" pitchFamily="34" charset="0"/>
                          <a:ea typeface="Calibri" pitchFamily="34" charset="-122"/>
                          <a:cs typeface="Calibri" pitchFamily="34" charset="-120"/>
                        </a:rPr>
                        <a:t>96.06%</a:t>
                      </a:r>
                      <a:endParaRPr lang="en-US" sz="16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3429000"/>
            <a:ext cx="5486400" cy="640080"/>
          </a:xfrm>
          <a:prstGeom prst="rect">
            <a:avLst/>
          </a:prstGeom>
          <a:noFill/>
          <a:ln/>
        </p:spPr>
        <p:txBody>
          <a:bodyPr wrap="square" lIns="0" tIns="0" rIns="0" bIns="0" rtlCol="0" anchor="t"/>
          <a:lstStyle/>
          <a:p>
            <a:pPr indent="0" marL="0">
              <a:buNone/>
            </a:pPr>
            <a:r>
              <a:rPr lang="en-US" sz="1250" dirty="0">
                <a:solidFill>
                  <a:srgbClr val="8A93A0"/>
                </a:solidFill>
                <a:latin typeface="Calibri" pitchFamily="34" charset="0"/>
                <a:ea typeface="Calibri" pitchFamily="34" charset="-122"/>
                <a:cs typeface="Calibri" pitchFamily="34" charset="-120"/>
              </a:rPr>
              <a:t>Negative-to-positive is the harder direction, an asymmetry also reported for sentiment transfer more broadly.</a:t>
            </a:r>
            <a:endParaRPr lang="en-US" sz="1250" dirty="0"/>
          </a:p>
        </p:txBody>
      </p:sp>
      <p:sp>
        <p:nvSpPr>
          <p:cNvPr id="7" name="Shape 3"/>
          <p:cNvSpPr/>
          <p:nvPr/>
        </p:nvSpPr>
        <p:spPr>
          <a:xfrm>
            <a:off x="457200" y="4206240"/>
            <a:ext cx="5486400" cy="1508760"/>
          </a:xfrm>
          <a:prstGeom prst="roundRect">
            <a:avLst>
              <a:gd name="adj" fmla="val 4848"/>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8" name="Image 0" descr="/home/aigca/ALEXIS/Posters/build/pptx/icons/cpu_blue.png">    </p:cNvPr>
          <p:cNvPicPr>
            <a:picLocks noChangeAspect="1"/>
          </p:cNvPicPr>
          <p:nvPr/>
        </p:nvPicPr>
        <p:blipFill>
          <a:blip r:embed="rId1"/>
          <a:stretch>
            <a:fillRect/>
          </a:stretch>
        </p:blipFill>
        <p:spPr>
          <a:xfrm>
            <a:off x="658368" y="4407408"/>
            <a:ext cx="329184" cy="329184"/>
          </a:xfrm>
          <a:prstGeom prst="rect">
            <a:avLst/>
          </a:prstGeom>
        </p:spPr>
      </p:pic>
      <p:sp>
        <p:nvSpPr>
          <p:cNvPr id="9" name="Text 4"/>
          <p:cNvSpPr txBox="1"/>
          <p:nvPr/>
        </p:nvSpPr>
        <p:spPr>
          <a:xfrm>
            <a:off x="1115568" y="4398264"/>
            <a:ext cx="46268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Fully fine-tuned on all 7,716 pairs</a:t>
            </a:r>
            <a:endParaRPr lang="en-US" sz="1400" dirty="0"/>
          </a:p>
        </p:txBody>
      </p:sp>
      <p:sp>
        <p:nvSpPr>
          <p:cNvPr id="10" name="Text 5"/>
          <p:cNvSpPr txBox="1"/>
          <p:nvPr/>
        </p:nvSpPr>
        <p:spPr>
          <a:xfrm>
            <a:off x="658368" y="4882896"/>
            <a:ext cx="5084064" cy="83210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Train + validation pairs; validation figures quoted during development come from the held-out 964-row split.</a:t>
            </a:r>
            <a:endParaRPr lang="en-US" sz="1250" dirty="0"/>
          </a:p>
        </p:txBody>
      </p:sp>
      <p:sp>
        <p:nvSpPr>
          <p:cNvPr id="11" name="Shape 6"/>
          <p:cNvSpPr/>
          <p:nvPr/>
        </p:nvSpPr>
        <p:spPr>
          <a:xfrm>
            <a:off x="6245352" y="1645920"/>
            <a:ext cx="5486400" cy="1234440"/>
          </a:xfrm>
          <a:prstGeom prst="roundRect">
            <a:avLst>
              <a:gd name="adj" fmla="val 592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2" name="Image 1" descr="/home/aigca/ALEXIS/Posters/build/pptx/icons/sliders_blue.png">    </p:cNvPr>
          <p:cNvPicPr>
            <a:picLocks noChangeAspect="1"/>
          </p:cNvPicPr>
          <p:nvPr/>
        </p:nvPicPr>
        <p:blipFill>
          <a:blip r:embed="rId2"/>
          <a:stretch>
            <a:fillRect/>
          </a:stretch>
        </p:blipFill>
        <p:spPr>
          <a:xfrm>
            <a:off x="6446520" y="1847088"/>
            <a:ext cx="329184" cy="329184"/>
          </a:xfrm>
          <a:prstGeom prst="rect">
            <a:avLst/>
          </a:prstGeom>
        </p:spPr>
      </p:pic>
      <p:sp>
        <p:nvSpPr>
          <p:cNvPr id="13" name="Text 7"/>
          <p:cNvSpPr txBox="1"/>
          <p:nvPr/>
        </p:nvSpPr>
        <p:spPr>
          <a:xfrm>
            <a:off x="6903720" y="1837944"/>
            <a:ext cx="46268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Asymmetric decoding</a:t>
            </a:r>
            <a:endParaRPr lang="en-US" sz="1400" dirty="0"/>
          </a:p>
        </p:txBody>
      </p:sp>
      <p:sp>
        <p:nvSpPr>
          <p:cNvPr id="14" name="Text 8"/>
          <p:cNvSpPr txBox="1"/>
          <p:nvPr/>
        </p:nvSpPr>
        <p:spPr>
          <a:xfrm>
            <a:off x="6446520" y="2322576"/>
            <a:ext cx="5084064" cy="55778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13 beams instead of 10 when the source is predicted negative.</a:t>
            </a:r>
            <a:endParaRPr lang="en-US" sz="1250" dirty="0"/>
          </a:p>
        </p:txBody>
      </p:sp>
      <p:sp>
        <p:nvSpPr>
          <p:cNvPr id="15" name="Shape 9"/>
          <p:cNvSpPr/>
          <p:nvPr/>
        </p:nvSpPr>
        <p:spPr>
          <a:xfrm>
            <a:off x="6245352" y="3017520"/>
            <a:ext cx="5486400" cy="1234440"/>
          </a:xfrm>
          <a:prstGeom prst="roundRect">
            <a:avLst>
              <a:gd name="adj" fmla="val 592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6" name="Image 2" descr="/home/aigca/ALEXIS/Posters/build/pptx/icons/check_blue.png">    </p:cNvPr>
          <p:cNvPicPr>
            <a:picLocks noChangeAspect="1"/>
          </p:cNvPicPr>
          <p:nvPr/>
        </p:nvPicPr>
        <p:blipFill>
          <a:blip r:embed="rId3"/>
          <a:stretch>
            <a:fillRect/>
          </a:stretch>
        </p:blipFill>
        <p:spPr>
          <a:xfrm>
            <a:off x="6446520" y="3218688"/>
            <a:ext cx="329184" cy="329184"/>
          </a:xfrm>
          <a:prstGeom prst="rect">
            <a:avLst/>
          </a:prstGeom>
        </p:spPr>
      </p:pic>
      <p:sp>
        <p:nvSpPr>
          <p:cNvPr id="17" name="Text 10"/>
          <p:cNvSpPr txBox="1"/>
          <p:nvPr/>
        </p:nvSpPr>
        <p:spPr>
          <a:xfrm>
            <a:off x="6903720" y="3209544"/>
            <a:ext cx="46268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Select checkpoints by beam-search chrF</a:t>
            </a:r>
            <a:endParaRPr lang="en-US" sz="1400" dirty="0"/>
          </a:p>
        </p:txBody>
      </p:sp>
      <p:sp>
        <p:nvSpPr>
          <p:cNvPr id="18" name="Text 11"/>
          <p:cNvSpPr txBox="1"/>
          <p:nvPr/>
        </p:nvSpPr>
        <p:spPr>
          <a:xfrm>
            <a:off x="6446520" y="3694176"/>
            <a:ext cx="5084064" cy="55778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Not by teacher-forced loss: the lowest-loss checkpoint wrote measurably worse text once it had to decode freely.</a:t>
            </a:r>
            <a:endParaRPr lang="en-US" sz="1250" dirty="0"/>
          </a:p>
        </p:txBody>
      </p:sp>
      <p:sp>
        <p:nvSpPr>
          <p:cNvPr id="19" name="Shape 12"/>
          <p:cNvSpPr/>
          <p:nvPr/>
        </p:nvSpPr>
        <p:spPr>
          <a:xfrm>
            <a:off x="6245352" y="4389120"/>
            <a:ext cx="5486400" cy="1234440"/>
          </a:xfrm>
          <a:prstGeom prst="roundRect">
            <a:avLst>
              <a:gd name="adj" fmla="val 592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0" name="Image 3" descr="/home/aigca/ALEXIS/Posters/build/pptx/icons/x_red.png">    </p:cNvPr>
          <p:cNvPicPr>
            <a:picLocks noChangeAspect="1"/>
          </p:cNvPicPr>
          <p:nvPr/>
        </p:nvPicPr>
        <p:blipFill>
          <a:blip r:embed="rId4"/>
          <a:stretch>
            <a:fillRect/>
          </a:stretch>
        </p:blipFill>
        <p:spPr>
          <a:xfrm>
            <a:off x="6446520" y="4590288"/>
            <a:ext cx="329184" cy="329184"/>
          </a:xfrm>
          <a:prstGeom prst="rect">
            <a:avLst/>
          </a:prstGeom>
        </p:spPr>
      </p:pic>
      <p:sp>
        <p:nvSpPr>
          <p:cNvPr id="21" name="Text 13"/>
          <p:cNvSpPr txBox="1"/>
          <p:nvPr/>
        </p:nvSpPr>
        <p:spPr>
          <a:xfrm>
            <a:off x="6903720" y="4581144"/>
            <a:ext cx="46268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Arabic T5 checkpoints discarded</a:t>
            </a:r>
            <a:endParaRPr lang="en-US" sz="1400" dirty="0"/>
          </a:p>
        </p:txBody>
      </p:sp>
      <p:sp>
        <p:nvSpPr>
          <p:cNvPr id="22" name="Text 14"/>
          <p:cNvSpPr txBox="1"/>
          <p:nvPr/>
        </p:nvSpPr>
        <p:spPr>
          <a:xfrm>
            <a:off x="6446520" y="5065776"/>
            <a:ext cx="5084064" cy="557784"/>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Two were tried: one had an unparseable tokenizer format, the other gave incoherent zero-shot output.</a:t>
            </a:r>
            <a:endParaRPr lang="en-US" sz="12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02</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Results</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Official leaderboard, ablation and lessons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OFFICIAL TEST SET</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DialectSentEval 2026 Subtask 2 leaderboard</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7315200" cy="914400"/>
        </p:xfrm>
        <a:graphic>
          <a:graphicData uri="http://schemas.openxmlformats.org/drawingml/2006/table">
            <a:tbl>
              <a:tblPr/>
              <a:tblGrid>
                <a:gridCol w="548640"/>
                <a:gridCol w="3108960"/>
                <a:gridCol w="1234440"/>
                <a:gridCol w="1188720"/>
                <a:gridCol w="1234440"/>
              </a:tblGrid>
              <a:tr h="274320">
                <a:tc>
                  <a:txBody>
                    <a:bodyPr/>
                    <a:lstStyle/>
                    <a:p>
                      <a:pPr algn="ctr" indent="0" marL="0">
                        <a:buNone/>
                      </a:pPr>
                      <a:r>
                        <a:rPr lang="en-US" sz="1050" b="1" spc="50" kern="0"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l" indent="0" marL="0">
                        <a:buNone/>
                      </a:pPr>
                      <a:r>
                        <a:rPr lang="en-US" sz="1050" b="1" spc="50" kern="0" dirty="0">
                          <a:solidFill>
                            <a:srgbClr val="FFFFFF"/>
                          </a:solidFill>
                          <a:latin typeface="Arial" pitchFamily="34" charset="0"/>
                          <a:ea typeface="Arial" pitchFamily="34" charset="-122"/>
                          <a:cs typeface="Arial" pitchFamily="34" charset="-120"/>
                        </a:rPr>
                        <a:t>Team / participant</a:t>
                      </a:r>
                      <a:endParaRPr lang="en-US" sz="10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050" b="1" spc="50" kern="0" dirty="0">
                          <a:solidFill>
                            <a:srgbClr val="FFFFFF"/>
                          </a:solidFill>
                          <a:latin typeface="Arial" pitchFamily="34" charset="0"/>
                          <a:ea typeface="Arial" pitchFamily="34" charset="-122"/>
                          <a:cs typeface="Arial" pitchFamily="34" charset="-120"/>
                        </a:rPr>
                        <a:t>SSA</a:t>
                      </a:r>
                      <a:endParaRPr lang="en-US" sz="10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050" b="1" spc="50" kern="0" dirty="0">
                          <a:solidFill>
                            <a:srgbClr val="FFFFFF"/>
                          </a:solidFill>
                          <a:latin typeface="Arial" pitchFamily="34" charset="0"/>
                          <a:ea typeface="Arial" pitchFamily="34" charset="-122"/>
                          <a:cs typeface="Arial" pitchFamily="34" charset="-120"/>
                        </a:rPr>
                        <a:t>BLEU</a:t>
                      </a:r>
                      <a:endParaRPr lang="en-US" sz="10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050" b="1" spc="50" kern="0" dirty="0">
                          <a:solidFill>
                            <a:srgbClr val="FFFFFF"/>
                          </a:solidFill>
                          <a:latin typeface="Arial" pitchFamily="34" charset="0"/>
                          <a:ea typeface="Arial" pitchFamily="34" charset="-122"/>
                          <a:cs typeface="Arial" pitchFamily="34" charset="-120"/>
                        </a:rPr>
                        <a:t>chrF</a:t>
                      </a:r>
                      <a:endParaRPr lang="en-US" sz="10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274320">
                <a:tc>
                  <a:txBody>
                    <a:bodyPr/>
                    <a:lstStyle/>
                    <a:p>
                      <a:pPr algn="ctr" indent="0" marL="0">
                        <a:buNone/>
                      </a:pPr>
                      <a:r>
                        <a:rPr lang="en-US" sz="1200" b="1" dirty="0">
                          <a:solidFill>
                            <a:srgbClr val="1553C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l" indent="0" marL="0">
                        <a:buNone/>
                      </a:pPr>
                      <a:r>
                        <a:rPr lang="en-US" sz="1200" b="1" dirty="0">
                          <a:solidFill>
                            <a:srgbClr val="1553CC"/>
                          </a:solidFill>
                          <a:latin typeface="Calibri" pitchFamily="34" charset="0"/>
                          <a:ea typeface="Calibri" pitchFamily="34" charset="-122"/>
                          <a:cs typeface="Calibri" pitchFamily="34" charset="-120"/>
                        </a:rPr>
                        <a:t>ALEXIS (ours)</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200" b="1" dirty="0">
                          <a:solidFill>
                            <a:srgbClr val="1553CC"/>
                          </a:solidFill>
                          <a:latin typeface="Calibri" pitchFamily="34" charset="0"/>
                          <a:ea typeface="Calibri" pitchFamily="34" charset="-122"/>
                          <a:cs typeface="Calibri" pitchFamily="34" charset="-120"/>
                        </a:rPr>
                        <a:t>0.9581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200" b="1" dirty="0">
                          <a:solidFill>
                            <a:srgbClr val="1553CC"/>
                          </a:solidFill>
                          <a:latin typeface="Calibri" pitchFamily="34" charset="0"/>
                          <a:ea typeface="Calibri" pitchFamily="34" charset="-122"/>
                          <a:cs typeface="Calibri" pitchFamily="34" charset="-120"/>
                        </a:rPr>
                        <a:t>56.91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200" b="1" dirty="0">
                          <a:solidFill>
                            <a:srgbClr val="1553CC"/>
                          </a:solidFill>
                          <a:latin typeface="Calibri" pitchFamily="34" charset="0"/>
                          <a:ea typeface="Calibri" pitchFamily="34" charset="-122"/>
                          <a:cs typeface="Calibri" pitchFamily="34" charset="-120"/>
                        </a:rPr>
                        <a:t>72.18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akarrouch</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0.7851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49.82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70.12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ahmadalmoustafa</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0.7789</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41.48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64.45</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mona_</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0.7597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51.58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71.02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melmoussaoui</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0.7530</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49.03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69.53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mohamedsabaa</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0.7447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49.07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69.33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hsnhb7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0.7343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46.80</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67.10</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areejkhaled</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0.6898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54.63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72.61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mohammed_bahgat</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0.6732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41.38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65.84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ehabashraf</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0.6732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41.38</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65.84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ahmad_alshattha</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0.6354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25.07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56.33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hoanguitcs</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0.6220</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49.27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68.26</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normalman159</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0.5997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11.31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38.22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mustafaelkady</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0.4772</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0.03</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10.04</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0D1117"/>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D1117"/>
                          </a:solidFill>
                          <a:latin typeface="Calibri" pitchFamily="34" charset="0"/>
                          <a:ea typeface="Calibri" pitchFamily="34" charset="-122"/>
                          <a:cs typeface="Calibri" pitchFamily="34" charset="-120"/>
                        </a:rPr>
                        <a:t>mohamedmhaouach</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0.2807</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43.06</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00" dirty="0">
                          <a:solidFill>
                            <a:srgbClr val="0D1117"/>
                          </a:solidFill>
                          <a:latin typeface="Calibri" pitchFamily="34" charset="0"/>
                          <a:ea typeface="Calibri" pitchFamily="34" charset="-122"/>
                          <a:cs typeface="Calibri" pitchFamily="34" charset="-120"/>
                        </a:rPr>
                        <a:t>64.61</a:t>
                      </a:r>
                      <a:endParaRPr lang="en-US" sz="12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6" name="Shape 2"/>
          <p:cNvSpPr/>
          <p:nvPr/>
        </p:nvSpPr>
        <p:spPr>
          <a:xfrm>
            <a:off x="8046720" y="1508760"/>
            <a:ext cx="3685032" cy="1325880"/>
          </a:xfrm>
          <a:prstGeom prst="roundRect">
            <a:avLst>
              <a:gd name="adj" fmla="val 551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7" name="Text 3"/>
          <p:cNvSpPr txBox="1"/>
          <p:nvPr/>
        </p:nvSpPr>
        <p:spPr>
          <a:xfrm>
            <a:off x="8275320" y="1673352"/>
            <a:ext cx="322783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#1</a:t>
            </a:r>
            <a:endParaRPr lang="en-US" sz="3000" dirty="0"/>
          </a:p>
        </p:txBody>
      </p:sp>
      <p:sp>
        <p:nvSpPr>
          <p:cNvPr id="8" name="Text 4"/>
          <p:cNvSpPr txBox="1"/>
          <p:nvPr/>
        </p:nvSpPr>
        <p:spPr>
          <a:xfrm>
            <a:off x="8275320" y="2258568"/>
            <a:ext cx="322783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of 15 submissions</a:t>
            </a:r>
            <a:endParaRPr lang="en-US" sz="1200" dirty="0"/>
          </a:p>
        </p:txBody>
      </p:sp>
      <p:sp>
        <p:nvSpPr>
          <p:cNvPr id="9" name="Text 5"/>
          <p:cNvSpPr txBox="1"/>
          <p:nvPr/>
        </p:nvSpPr>
        <p:spPr>
          <a:xfrm>
            <a:off x="8275320" y="2514600"/>
            <a:ext cx="3227832" cy="22860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first place overall</a:t>
            </a:r>
            <a:endParaRPr lang="en-US" sz="1150" dirty="0"/>
          </a:p>
        </p:txBody>
      </p:sp>
      <p:sp>
        <p:nvSpPr>
          <p:cNvPr id="10" name="Shape 6"/>
          <p:cNvSpPr/>
          <p:nvPr/>
        </p:nvSpPr>
        <p:spPr>
          <a:xfrm>
            <a:off x="8046720" y="2971800"/>
            <a:ext cx="3685032" cy="1325880"/>
          </a:xfrm>
          <a:prstGeom prst="roundRect">
            <a:avLst>
              <a:gd name="adj" fmla="val 551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1" name="Text 7"/>
          <p:cNvSpPr txBox="1"/>
          <p:nvPr/>
        </p:nvSpPr>
        <p:spPr>
          <a:xfrm>
            <a:off x="8275320" y="3136392"/>
            <a:ext cx="322783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0.9581</a:t>
            </a:r>
            <a:endParaRPr lang="en-US" sz="3000" dirty="0"/>
          </a:p>
        </p:txBody>
      </p:sp>
      <p:sp>
        <p:nvSpPr>
          <p:cNvPr id="12" name="Text 8"/>
          <p:cNvSpPr txBox="1"/>
          <p:nvPr/>
        </p:nvSpPr>
        <p:spPr>
          <a:xfrm>
            <a:off x="8275320" y="3721608"/>
            <a:ext cx="322783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SSA</a:t>
            </a:r>
            <a:endParaRPr lang="en-US" sz="1200" dirty="0"/>
          </a:p>
        </p:txBody>
      </p:sp>
      <p:sp>
        <p:nvSpPr>
          <p:cNvPr id="13" name="Text 9"/>
          <p:cNvSpPr txBox="1"/>
          <p:nvPr/>
        </p:nvSpPr>
        <p:spPr>
          <a:xfrm>
            <a:off x="8275320" y="3977640"/>
            <a:ext cx="3227832" cy="22860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BLEU 56.91 · chrF 72.18</a:t>
            </a:r>
            <a:endParaRPr lang="en-US" sz="1150" dirty="0"/>
          </a:p>
        </p:txBody>
      </p:sp>
      <p:sp>
        <p:nvSpPr>
          <p:cNvPr id="14" name="Shape 10"/>
          <p:cNvSpPr/>
          <p:nvPr/>
        </p:nvSpPr>
        <p:spPr>
          <a:xfrm>
            <a:off x="8046720" y="4434840"/>
            <a:ext cx="3685032" cy="1325880"/>
          </a:xfrm>
          <a:prstGeom prst="roundRect">
            <a:avLst>
              <a:gd name="adj" fmla="val 551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5" name="Text 11"/>
          <p:cNvSpPr txBox="1"/>
          <p:nvPr/>
        </p:nvSpPr>
        <p:spPr>
          <a:xfrm>
            <a:off x="8275320" y="4599432"/>
            <a:ext cx="3227832" cy="566928"/>
          </a:xfrm>
          <a:prstGeom prst="rect">
            <a:avLst/>
          </a:prstGeom>
          <a:noFill/>
          <a:ln/>
        </p:spPr>
        <p:txBody>
          <a:bodyPr wrap="square" lIns="0" tIns="0" rIns="0" bIns="0" rtlCol="0" anchor="ctr"/>
          <a:lstStyle/>
          <a:p>
            <a:pPr indent="0" marL="0">
              <a:buNone/>
            </a:pPr>
            <a:r>
              <a:rPr lang="en-US" sz="3000" b="1" dirty="0">
                <a:solidFill>
                  <a:srgbClr val="B57400"/>
                </a:solidFill>
                <a:latin typeface="Arial" pitchFamily="34" charset="0"/>
                <a:ea typeface="Arial" pitchFamily="34" charset="-122"/>
                <a:cs typeface="Arial" pitchFamily="34" charset="-120"/>
              </a:rPr>
              <a:t>+17.3</a:t>
            </a:r>
            <a:endParaRPr lang="en-US" sz="3000" dirty="0"/>
          </a:p>
        </p:txBody>
      </p:sp>
      <p:sp>
        <p:nvSpPr>
          <p:cNvPr id="16" name="Text 12"/>
          <p:cNvSpPr txBox="1"/>
          <p:nvPr/>
        </p:nvSpPr>
        <p:spPr>
          <a:xfrm>
            <a:off x="8275320" y="5184648"/>
            <a:ext cx="322783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SSA points</a:t>
            </a:r>
            <a:endParaRPr lang="en-US" sz="1200" dirty="0"/>
          </a:p>
        </p:txBody>
      </p:sp>
      <p:sp>
        <p:nvSpPr>
          <p:cNvPr id="17" name="Text 13"/>
          <p:cNvSpPr txBox="1"/>
          <p:nvPr/>
        </p:nvSpPr>
        <p:spPr>
          <a:xfrm>
            <a:off x="8275320" y="5440680"/>
            <a:ext cx="3227832" cy="22860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ahead of second place (0.7851)</a:t>
            </a:r>
            <a:endParaRPr lang="en-US" sz="1150" dirty="0"/>
          </a:p>
        </p:txBody>
      </p:sp>
      <p:sp>
        <p:nvSpPr>
          <p:cNvPr id="18" name="Text 14"/>
          <p:cNvSpPr txBox="1"/>
          <p:nvPr/>
        </p:nvSpPr>
        <p:spPr>
          <a:xfrm>
            <a:off x="8046720" y="5943600"/>
            <a:ext cx="3685032" cy="41148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The margin is specific to SSA: several systems are within a few points on BLEU and chrF.</a:t>
            </a:r>
            <a:endParaRPr lang="en-US" sz="11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ABLATION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Where the gains came from</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589520" cy="914400"/>
        </p:xfrm>
        <a:graphic>
          <a:graphicData uri="http://schemas.openxmlformats.org/drawingml/2006/table">
            <a:tbl>
              <a:tblPr/>
              <a:tblGrid>
                <a:gridCol w="5029200"/>
                <a:gridCol w="1280160"/>
                <a:gridCol w="1280160"/>
              </a:tblGrid>
              <a:tr h="457200">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Configuration (each row an independent leaderboard submission)</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SSA</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Δ</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457200">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mT5-base + retrieval + reranking</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0.7452</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Edit tagger, wider pool</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0.7618</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+0.017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DPO, NLLB-200 &amp; mT5-large</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0.7887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+0.027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D1117"/>
                          </a:solidFill>
                          <a:latin typeface="Calibri" pitchFamily="34" charset="0"/>
                          <a:ea typeface="Calibri" pitchFamily="34" charset="-122"/>
                          <a:cs typeface="Calibri" pitchFamily="34" charset="-120"/>
                        </a:rPr>
                        <a:t>+ Dedicated polarity classifier</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400" b="1" dirty="0">
                          <a:solidFill>
                            <a:srgbClr val="0D1117"/>
                          </a:solidFill>
                          <a:latin typeface="Calibri" pitchFamily="34" charset="0"/>
                          <a:ea typeface="Calibri" pitchFamily="34" charset="-122"/>
                          <a:cs typeface="Calibri" pitchFamily="34" charset="-120"/>
                        </a:rPr>
                        <a:t>0.9436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c>
                  <a:txBody>
                    <a:bodyPr/>
                    <a:lstStyle/>
                    <a:p>
                      <a:pPr algn="r" indent="0" marL="0">
                        <a:buNone/>
                      </a:pPr>
                      <a:r>
                        <a:rPr lang="en-US" sz="1400" b="1" dirty="0">
                          <a:solidFill>
                            <a:srgbClr val="0D1117"/>
                          </a:solidFill>
                          <a:latin typeface="Calibri" pitchFamily="34" charset="0"/>
                          <a:ea typeface="Calibri" pitchFamily="34" charset="-122"/>
                          <a:cs typeface="Calibri" pitchFamily="34" charset="-120"/>
                        </a:rPr>
                        <a:t>+0.155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4E6"/>
                    </a:solidFill>
                  </a:tcPr>
                </a:tc>
              </a:tr>
              <a:tr h="457200">
                <a:tc>
                  <a:txBody>
                    <a:bodyPr/>
                    <a:lstStyle/>
                    <a:p>
                      <a:pPr algn="l" indent="0" marL="0">
                        <a:buNone/>
                      </a:pPr>
                      <a:r>
                        <a:rPr lang="en-US" sz="1400" b="1" dirty="0">
                          <a:solidFill>
                            <a:srgbClr val="C8372D"/>
                          </a:solidFill>
                          <a:latin typeface="Calibri" pitchFamily="34" charset="0"/>
                          <a:ea typeface="Calibri" pitchFamily="34" charset="-122"/>
                          <a:cs typeface="Calibri" pitchFamily="34" charset="-120"/>
                        </a:rPr>
                        <a:t>+ Hard polarity gate (reverted)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c>
                  <a:txBody>
                    <a:bodyPr/>
                    <a:lstStyle/>
                    <a:p>
                      <a:pPr algn="r" indent="0" marL="0">
                        <a:buNone/>
                      </a:pPr>
                      <a:r>
                        <a:rPr lang="en-US" sz="1400" b="1" dirty="0">
                          <a:solidFill>
                            <a:srgbClr val="C8372D"/>
                          </a:solidFill>
                          <a:latin typeface="Calibri" pitchFamily="34" charset="0"/>
                          <a:ea typeface="Calibri" pitchFamily="34" charset="-122"/>
                          <a:cs typeface="Calibri" pitchFamily="34" charset="-120"/>
                        </a:rPr>
                        <a:t>0.8933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c>
                  <a:txBody>
                    <a:bodyPr/>
                    <a:lstStyle/>
                    <a:p>
                      <a:pPr algn="r" indent="0" marL="0">
                        <a:buNone/>
                      </a:pPr>
                      <a:r>
                        <a:rPr lang="en-US" sz="1400" b="1" dirty="0">
                          <a:solidFill>
                            <a:srgbClr val="C8372D"/>
                          </a:solidFill>
                          <a:latin typeface="Calibri" pitchFamily="34" charset="0"/>
                          <a:ea typeface="Calibri" pitchFamily="34" charset="-122"/>
                          <a:cs typeface="Calibri" pitchFamily="34" charset="-120"/>
                        </a:rPr>
                        <a:t>−0.050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r>
              <a:tr h="457200">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Raw-softmax reranking</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0.9498</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+0.006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553CC"/>
                          </a:solidFill>
                          <a:latin typeface="Calibri" pitchFamily="34" charset="0"/>
                          <a:ea typeface="Calibri" pitchFamily="34" charset="-122"/>
                          <a:cs typeface="Calibri" pitchFamily="34" charset="-120"/>
                        </a:rPr>
                        <a:t>+ DPO reward fix (final system)</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0.9581</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+0.008</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bl>
          </a:graphicData>
        </a:graphic>
      </p:graphicFrame>
      <p:sp>
        <p:nvSpPr>
          <p:cNvPr id="6" name="Text 2"/>
          <p:cNvSpPr txBox="1"/>
          <p:nvPr/>
        </p:nvSpPr>
        <p:spPr>
          <a:xfrm>
            <a:off x="457200" y="5349240"/>
            <a:ext cx="7589520" cy="45720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Δ against the previous retained configuration: the hard gate was reverted, so the next row is measured from 0.9436.</a:t>
            </a:r>
            <a:endParaRPr lang="en-US" sz="1100" dirty="0"/>
          </a:p>
        </p:txBody>
      </p:sp>
      <p:sp>
        <p:nvSpPr>
          <p:cNvPr id="7" name="Shape 3"/>
          <p:cNvSpPr/>
          <p:nvPr/>
        </p:nvSpPr>
        <p:spPr>
          <a:xfrm>
            <a:off x="8321040" y="1600200"/>
            <a:ext cx="3410712" cy="1691640"/>
          </a:xfrm>
          <a:prstGeom prst="roundRect">
            <a:avLst>
              <a:gd name="adj" fmla="val 432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8" name="Text 4"/>
          <p:cNvSpPr txBox="1"/>
          <p:nvPr/>
        </p:nvSpPr>
        <p:spPr>
          <a:xfrm>
            <a:off x="8549640" y="1764792"/>
            <a:ext cx="2953512" cy="566928"/>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+0.044</a:t>
            </a:r>
            <a:endParaRPr lang="en-US" sz="3000" dirty="0"/>
          </a:p>
        </p:txBody>
      </p:sp>
      <p:sp>
        <p:nvSpPr>
          <p:cNvPr id="9" name="Text 5"/>
          <p:cNvSpPr txBox="1"/>
          <p:nvPr/>
        </p:nvSpPr>
        <p:spPr>
          <a:xfrm>
            <a:off x="8549640" y="2350008"/>
            <a:ext cx="295351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Generation-side additions</a:t>
            </a:r>
            <a:endParaRPr lang="en-US" sz="1200" dirty="0"/>
          </a:p>
        </p:txBody>
      </p:sp>
      <p:sp>
        <p:nvSpPr>
          <p:cNvPr id="10" name="Text 6"/>
          <p:cNvSpPr txBox="1"/>
          <p:nvPr/>
        </p:nvSpPr>
        <p:spPr>
          <a:xfrm>
            <a:off x="8549640" y="2606040"/>
            <a:ext cx="2953512" cy="59436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tagger, wider pool, DPO, NLLB-200, mT5-large</a:t>
            </a:r>
            <a:endParaRPr lang="en-US" sz="1150" dirty="0"/>
          </a:p>
        </p:txBody>
      </p:sp>
      <p:sp>
        <p:nvSpPr>
          <p:cNvPr id="11" name="Shape 7"/>
          <p:cNvSpPr/>
          <p:nvPr/>
        </p:nvSpPr>
        <p:spPr>
          <a:xfrm>
            <a:off x="8321040" y="3474720"/>
            <a:ext cx="3410712" cy="1691640"/>
          </a:xfrm>
          <a:prstGeom prst="roundRect">
            <a:avLst>
              <a:gd name="adj" fmla="val 432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2" name="Text 8"/>
          <p:cNvSpPr txBox="1"/>
          <p:nvPr/>
        </p:nvSpPr>
        <p:spPr>
          <a:xfrm>
            <a:off x="8549640" y="3639312"/>
            <a:ext cx="295351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+0.155</a:t>
            </a:r>
            <a:endParaRPr lang="en-US" sz="3000" dirty="0"/>
          </a:p>
        </p:txBody>
      </p:sp>
      <p:sp>
        <p:nvSpPr>
          <p:cNvPr id="13" name="Text 9"/>
          <p:cNvSpPr txBox="1"/>
          <p:nvPr/>
        </p:nvSpPr>
        <p:spPr>
          <a:xfrm>
            <a:off x="8549640" y="4224528"/>
            <a:ext cx="295351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Polarity classifier alone</a:t>
            </a:r>
            <a:endParaRPr lang="en-US" sz="1200" dirty="0"/>
          </a:p>
        </p:txBody>
      </p:sp>
      <p:sp>
        <p:nvSpPr>
          <p:cNvPr id="14" name="Text 10"/>
          <p:cNvSpPr txBox="1"/>
          <p:nvPr/>
        </p:nvSpPr>
        <p:spPr>
          <a:xfrm>
            <a:off x="8549640" y="4480560"/>
            <a:ext cx="2953512" cy="59436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more than three times the generation-side gains</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LESSONS</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Changes that looked safe and were not</a:t>
            </a:r>
            <a:endParaRPr lang="en-US" sz="2800" dirty="0"/>
          </a:p>
        </p:txBody>
      </p:sp>
      <p:sp>
        <p:nvSpPr>
          <p:cNvPr id="5" name="Shape 2"/>
          <p:cNvSpPr/>
          <p:nvPr/>
        </p:nvSpPr>
        <p:spPr>
          <a:xfrm>
            <a:off x="457200" y="1600200"/>
            <a:ext cx="3657600" cy="3246120"/>
          </a:xfrm>
          <a:prstGeom prst="roundRect">
            <a:avLst>
              <a:gd name="adj" fmla="val 2254"/>
            </a:avLst>
          </a:prstGeom>
          <a:solidFill>
            <a:srgbClr val="FDECEC"/>
          </a:solidFill>
          <a:ln w="9525">
            <a:solidFill>
              <a:srgbClr val="F2C2BE"/>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alert_red.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27980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The hard gate: −0.050</a:t>
            </a:r>
            <a:endParaRPr lang="en-US" sz="1400" dirty="0"/>
          </a:p>
        </p:txBody>
      </p:sp>
      <p:sp>
        <p:nvSpPr>
          <p:cNvPr id="8" name="Text 4"/>
          <p:cNvSpPr txBox="1"/>
          <p:nvPr/>
        </p:nvSpPr>
        <p:spPr>
          <a:xfrm>
            <a:off x="658368" y="2276856"/>
            <a:ext cx="3255264" cy="2569464"/>
          </a:xfrm>
          <a:prstGeom prst="rect">
            <a:avLst/>
          </a:prstGeom>
          <a:noFill/>
          <a:ln/>
        </p:spPr>
        <p:txBody>
          <a:bodyPr wrap="square" lIns="0" tIns="0" rIns="0" bIns="0" rtlCol="0" anchor="t"/>
          <a:lstStyle/>
          <a:p>
            <a:pPr indent="0" marL="0">
              <a:spcAft>
                <a:spcPts val="400"/>
              </a:spcAft>
              <a:buNone/>
            </a:pPr>
            <a:r>
              <a:rPr lang="en-US" sz="1350" dirty="0">
                <a:solidFill>
                  <a:srgbClr val="5A6472"/>
                </a:solidFill>
                <a:latin typeface="Calibri" pitchFamily="34" charset="0"/>
                <a:ea typeface="Calibri" pitchFamily="34" charset="-122"/>
                <a:cs typeface="Calibri" pitchFamily="34" charset="-120"/>
              </a:rPr>
              <a:t>Discarding candidates the classifier did not label with the target polarity appeared to cost nothing on validation, then lost 0.050 on the leaderboard: the same classifier chose and judged the candidates. A rule validated only against the signal it optimizes will always look correct.</a:t>
            </a:r>
            <a:endParaRPr lang="en-US" sz="1350" dirty="0"/>
          </a:p>
        </p:txBody>
      </p:sp>
      <p:sp>
        <p:nvSpPr>
          <p:cNvPr id="9" name="Shape 5"/>
          <p:cNvSpPr/>
          <p:nvPr/>
        </p:nvSpPr>
        <p:spPr>
          <a:xfrm>
            <a:off x="4270248" y="1600200"/>
            <a:ext cx="3657600" cy="3246120"/>
          </a:xfrm>
          <a:prstGeom prst="roundRect">
            <a:avLst>
              <a:gd name="adj" fmla="val 2254"/>
            </a:avLst>
          </a:prstGeom>
          <a:solidFill>
            <a:srgbClr val="FFF4E6"/>
          </a:solidFill>
          <a:ln w="9525">
            <a:solidFill>
              <a:srgbClr val="F3D19A"/>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scale_amber.png">    </p:cNvPr>
          <p:cNvPicPr>
            <a:picLocks noChangeAspect="1"/>
          </p:cNvPicPr>
          <p:nvPr/>
        </p:nvPicPr>
        <p:blipFill>
          <a:blip r:embed="rId2"/>
          <a:stretch>
            <a:fillRect/>
          </a:stretch>
        </p:blipFill>
        <p:spPr>
          <a:xfrm>
            <a:off x="4471416" y="1801368"/>
            <a:ext cx="329184" cy="329184"/>
          </a:xfrm>
          <a:prstGeom prst="rect">
            <a:avLst/>
          </a:prstGeom>
        </p:spPr>
      </p:pic>
      <p:sp>
        <p:nvSpPr>
          <p:cNvPr id="11" name="Text 6"/>
          <p:cNvSpPr txBox="1"/>
          <p:nvPr/>
        </p:nvSpPr>
        <p:spPr>
          <a:xfrm>
            <a:off x="4928616" y="1792224"/>
            <a:ext cx="27980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Validation preferred α = 1</a:t>
            </a:r>
            <a:endParaRPr lang="en-US" sz="1400" dirty="0"/>
          </a:p>
        </p:txBody>
      </p:sp>
      <p:sp>
        <p:nvSpPr>
          <p:cNvPr id="12" name="Text 7"/>
          <p:cNvSpPr txBox="1"/>
          <p:nvPr/>
        </p:nvSpPr>
        <p:spPr>
          <a:xfrm>
            <a:off x="4471416" y="2276856"/>
            <a:ext cx="3255264" cy="2569464"/>
          </a:xfrm>
          <a:prstGeom prst="rect">
            <a:avLst/>
          </a:prstGeom>
          <a:noFill/>
          <a:ln/>
        </p:spPr>
        <p:txBody>
          <a:bodyPr wrap="square" lIns="0" tIns="0" rIns="0" bIns="0" rtlCol="0" anchor="t"/>
          <a:lstStyle/>
          <a:p>
            <a:pPr indent="0" marL="0">
              <a:spcAft>
                <a:spcPts val="400"/>
              </a:spcAft>
              <a:buNone/>
            </a:pPr>
            <a:r>
              <a:rPr lang="en-US" sz="1350" dirty="0">
                <a:solidFill>
                  <a:srgbClr val="5A6472"/>
                </a:solidFill>
                <a:latin typeface="Calibri" pitchFamily="34" charset="0"/>
                <a:ea typeface="Calibri" pitchFamily="34" charset="-122"/>
                <a:cs typeface="Calibri" pitchFamily="34" charset="-120"/>
              </a:rPr>
              <a:t>All weight on polarity and none on content. Submitted, it lowered BLEU and chrF on the leaderboard, so we moved only part of the way toward each validation optimum (α = 0.85).</a:t>
            </a:r>
            <a:endParaRPr lang="en-US" sz="1350" dirty="0"/>
          </a:p>
        </p:txBody>
      </p:sp>
      <p:sp>
        <p:nvSpPr>
          <p:cNvPr id="13" name="Shape 8"/>
          <p:cNvSpPr/>
          <p:nvPr/>
        </p:nvSpPr>
        <p:spPr>
          <a:xfrm>
            <a:off x="8074152" y="1600200"/>
            <a:ext cx="3657600" cy="3246120"/>
          </a:xfrm>
          <a:prstGeom prst="roundRect">
            <a:avLst>
              <a:gd name="adj" fmla="val 2254"/>
            </a:avLst>
          </a:prstGeom>
          <a:solidFill>
            <a:srgbClr val="E7F6EE"/>
          </a:solidFill>
          <a:ln w="9525">
            <a:solidFill>
              <a:srgbClr val="B9E3CB"/>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zap_green.png">    </p:cNvPr>
          <p:cNvPicPr>
            <a:picLocks noChangeAspect="1"/>
          </p:cNvPicPr>
          <p:nvPr/>
        </p:nvPicPr>
        <p:blipFill>
          <a:blip r:embed="rId3"/>
          <a:stretch>
            <a:fillRect/>
          </a:stretch>
        </p:blipFill>
        <p:spPr>
          <a:xfrm>
            <a:off x="8275320" y="1801368"/>
            <a:ext cx="329184" cy="329184"/>
          </a:xfrm>
          <a:prstGeom prst="rect">
            <a:avLst/>
          </a:prstGeom>
        </p:spPr>
      </p:pic>
      <p:sp>
        <p:nvSpPr>
          <p:cNvPr id="15" name="Text 9"/>
          <p:cNvSpPr txBox="1"/>
          <p:nvPr/>
        </p:nvSpPr>
        <p:spPr>
          <a:xfrm>
            <a:off x="8732520" y="1792224"/>
            <a:ext cx="279806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Cost-aware deployment</a:t>
            </a:r>
            <a:endParaRPr lang="en-US" sz="1400" dirty="0"/>
          </a:p>
        </p:txBody>
      </p:sp>
      <p:sp>
        <p:nvSpPr>
          <p:cNvPr id="16" name="Text 10"/>
          <p:cNvSpPr txBox="1"/>
          <p:nvPr/>
        </p:nvSpPr>
        <p:spPr>
          <a:xfrm>
            <a:off x="8275320" y="2276856"/>
            <a:ext cx="3255264" cy="2569464"/>
          </a:xfrm>
          <a:prstGeom prst="rect">
            <a:avLst/>
          </a:prstGeom>
          <a:noFill/>
          <a:ln/>
        </p:spPr>
        <p:txBody>
          <a:bodyPr wrap="square" lIns="0" tIns="0" rIns="0" bIns="0" rtlCol="0" anchor="t"/>
          <a:lstStyle/>
          <a:p>
            <a:pPr indent="0" marL="0">
              <a:spcAft>
                <a:spcPts val="400"/>
              </a:spcAft>
              <a:buNone/>
            </a:pPr>
            <a:r>
              <a:rPr lang="en-US" sz="1350" dirty="0">
                <a:solidFill>
                  <a:srgbClr val="5A6472"/>
                </a:solidFill>
                <a:latin typeface="Calibri" pitchFamily="34" charset="0"/>
                <a:ea typeface="Calibri" pitchFamily="34" charset="-122"/>
                <a:cs typeface="Calibri" pitchFamily="34" charset="-120"/>
              </a:rPr>
              <a:t>Four generators, a tagger and a retrieval index are expensive at inference. The pooled generators add about +0.044 against +0.155 for the classifier: a latency-sensitive deployment could keep only mT5-base and the classifier.</a:t>
            </a:r>
            <a:endParaRPr lang="en-US" sz="1350" dirty="0"/>
          </a:p>
        </p:txBody>
      </p:sp>
      <p:sp>
        <p:nvSpPr>
          <p:cNvPr id="17" name="Shape 11"/>
          <p:cNvSpPr/>
          <p:nvPr/>
        </p:nvSpPr>
        <p:spPr>
          <a:xfrm>
            <a:off x="457200" y="5120640"/>
            <a:ext cx="11274552" cy="640080"/>
          </a:xfrm>
          <a:prstGeom prst="roundRect">
            <a:avLst>
              <a:gd name="adj" fmla="val 11429"/>
            </a:avLst>
          </a:prstGeom>
          <a:solidFill>
            <a:srgbClr val="EAF1FF"/>
          </a:solidFill>
          <a:ln w="9525">
            <a:solidFill>
              <a:srgbClr val="C9DAFD"/>
            </a:solidFill>
            <a:prstDash val="solid"/>
          </a:ln>
        </p:spPr>
      </p:sp>
      <p:pic>
        <p:nvPicPr>
          <p:cNvPr id="18" name="Image 3" descr="/home/aigca/ALEXIS/Posters/build/pptx/icons/gauge_blue.png">    </p:cNvPr>
          <p:cNvPicPr>
            <a:picLocks noChangeAspect="1"/>
          </p:cNvPicPr>
          <p:nvPr/>
        </p:nvPicPr>
        <p:blipFill>
          <a:blip r:embed="rId4"/>
          <a:stretch>
            <a:fillRect/>
          </a:stretch>
        </p:blipFill>
        <p:spPr>
          <a:xfrm>
            <a:off x="640080" y="5303520"/>
            <a:ext cx="274320" cy="274320"/>
          </a:xfrm>
          <a:prstGeom prst="rect">
            <a:avLst/>
          </a:prstGeom>
        </p:spPr>
      </p:pic>
      <p:sp>
        <p:nvSpPr>
          <p:cNvPr id="19" name="Text 12"/>
          <p:cNvSpPr txBox="1"/>
          <p:nvPr/>
        </p:nvSpPr>
        <p:spPr>
          <a:xfrm>
            <a:off x="1051560" y="5120640"/>
            <a:ext cx="10497312" cy="64008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Both regressions looked safe on validation and only showed up on the official leaderboard: score every change on the real test signal.</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CONCLUSION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What to take away</a:t>
            </a:r>
            <a:endParaRPr lang="en-US" sz="2800" dirty="0"/>
          </a:p>
        </p:txBody>
      </p:sp>
      <p:sp>
        <p:nvSpPr>
          <p:cNvPr id="5" name="Shape 2"/>
          <p:cNvSpPr/>
          <p:nvPr/>
        </p:nvSpPr>
        <p:spPr>
          <a:xfrm>
            <a:off x="457200" y="1600200"/>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pen_blue.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Treat the swap as constrained editing</a:t>
            </a:r>
            <a:endParaRPr lang="en-US" sz="1400" dirty="0"/>
          </a:p>
        </p:txBody>
      </p:sp>
      <p:sp>
        <p:nvSpPr>
          <p:cNvPr id="8" name="Text 4"/>
          <p:cNvSpPr txBox="1"/>
          <p:nvPr/>
        </p:nvSpPr>
        <p:spPr>
          <a:xfrm>
            <a:off x="658368" y="2276856"/>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91% of rewrites are local edits: retrieval, an edit tagger and a content term keep outputs close to the source.</a:t>
            </a:r>
            <a:endParaRPr lang="en-US" sz="1250" dirty="0"/>
          </a:p>
        </p:txBody>
      </p:sp>
      <p:sp>
        <p:nvSpPr>
          <p:cNvPr id="9" name="Shape 5"/>
          <p:cNvSpPr/>
          <p:nvPr/>
        </p:nvSpPr>
        <p:spPr>
          <a:xfrm>
            <a:off x="457200" y="2898648"/>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sigma_blue.png">    </p:cNvPr>
          <p:cNvPicPr>
            <a:picLocks noChangeAspect="1"/>
          </p:cNvPicPr>
          <p:nvPr/>
        </p:nvPicPr>
        <p:blipFill>
          <a:blip r:embed="rId2"/>
          <a:stretch>
            <a:fillRect/>
          </a:stretch>
        </p:blipFill>
        <p:spPr>
          <a:xfrm>
            <a:off x="658368" y="3099816"/>
            <a:ext cx="329184" cy="329184"/>
          </a:xfrm>
          <a:prstGeom prst="rect">
            <a:avLst/>
          </a:prstGeom>
        </p:spPr>
      </p:pic>
      <p:sp>
        <p:nvSpPr>
          <p:cNvPr id="11" name="Text 6"/>
          <p:cNvSpPr txBox="1"/>
          <p:nvPr/>
        </p:nvSpPr>
        <p:spPr>
          <a:xfrm>
            <a:off x="1115568" y="3090672"/>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One score, two jobs</a:t>
            </a:r>
            <a:endParaRPr lang="en-US" sz="1400" dirty="0"/>
          </a:p>
        </p:txBody>
      </p:sp>
      <p:sp>
        <p:nvSpPr>
          <p:cNvPr id="12" name="Text 7"/>
          <p:cNvSpPr txBox="1"/>
          <p:nvPr/>
        </p:nvSpPr>
        <p:spPr>
          <a:xfrm>
            <a:off x="658368" y="3575304"/>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Polarity and content balanced in one function, used as the reranker and as the DPO reward, on the raw three-way probability.</a:t>
            </a:r>
            <a:endParaRPr lang="en-US" sz="1250" dirty="0"/>
          </a:p>
        </p:txBody>
      </p:sp>
      <p:sp>
        <p:nvSpPr>
          <p:cNvPr id="13" name="Shape 8"/>
          <p:cNvSpPr/>
          <p:nvPr/>
        </p:nvSpPr>
        <p:spPr>
          <a:xfrm>
            <a:off x="457200" y="4197096"/>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award_blue.png">    </p:cNvPr>
          <p:cNvPicPr>
            <a:picLocks noChangeAspect="1"/>
          </p:cNvPicPr>
          <p:nvPr/>
        </p:nvPicPr>
        <p:blipFill>
          <a:blip r:embed="rId3"/>
          <a:stretch>
            <a:fillRect/>
          </a:stretch>
        </p:blipFill>
        <p:spPr>
          <a:xfrm>
            <a:off x="658368" y="4398264"/>
            <a:ext cx="329184" cy="329184"/>
          </a:xfrm>
          <a:prstGeom prst="rect">
            <a:avLst/>
          </a:prstGeom>
        </p:spPr>
      </p:pic>
      <p:sp>
        <p:nvSpPr>
          <p:cNvPr id="15" name="Text 9"/>
          <p:cNvSpPr txBox="1"/>
          <p:nvPr/>
        </p:nvSpPr>
        <p:spPr>
          <a:xfrm>
            <a:off x="1115568" y="4389120"/>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Rank #1 of 15 submissions</a:t>
            </a:r>
            <a:endParaRPr lang="en-US" sz="1400" dirty="0"/>
          </a:p>
        </p:txBody>
      </p:sp>
      <p:sp>
        <p:nvSpPr>
          <p:cNvPr id="16" name="Text 10"/>
          <p:cNvSpPr txBox="1"/>
          <p:nvPr/>
        </p:nvSpPr>
        <p:spPr>
          <a:xfrm>
            <a:off x="658368" y="4873752"/>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SSA 0.9581, BLEU 56.91, chrF 72.18: 17.3 SSA points ahead of second place.</a:t>
            </a:r>
            <a:endParaRPr lang="en-US" sz="1250" dirty="0"/>
          </a:p>
        </p:txBody>
      </p:sp>
      <p:sp>
        <p:nvSpPr>
          <p:cNvPr id="17" name="Shape 11"/>
          <p:cNvSpPr/>
          <p:nvPr/>
        </p:nvSpPr>
        <p:spPr>
          <a:xfrm>
            <a:off x="7726680" y="1600200"/>
            <a:ext cx="4005072" cy="3758184"/>
          </a:xfrm>
          <a:prstGeom prst="roundRect">
            <a:avLst>
              <a:gd name="adj" fmla="val 1946"/>
            </a:avLst>
          </a:prstGeom>
          <a:solidFill>
            <a:srgbClr val="0D1117"/>
          </a:solidFill>
          <a:ln w="9525">
            <a:solidFill>
              <a:srgbClr val="0D1117"/>
            </a:solidFill>
            <a:prstDash val="solid"/>
          </a:ln>
          <a:effectLst>
            <a:outerShdw sx="100000" sy="100000" kx="0" ky="0" algn="bl" rotWithShape="0" blurRad="101600" dist="25400" dir="5400000">
              <a:srgbClr val="0D1B3A">
                <a:alpha val="35000"/>
              </a:srgbClr>
            </a:outerShdw>
          </a:effectLst>
        </p:spPr>
      </p:sp>
      <p:pic>
        <p:nvPicPr>
          <p:cNvPr id="18" name="Image 3" descr="/home/aigca/ALEXIS/Posters/build/pptx/icons/arrow_white.png">    </p:cNvPr>
          <p:cNvPicPr>
            <a:picLocks noChangeAspect="1"/>
          </p:cNvPicPr>
          <p:nvPr/>
        </p:nvPicPr>
        <p:blipFill>
          <a:blip r:embed="rId4"/>
          <a:stretch>
            <a:fillRect/>
          </a:stretch>
        </p:blipFill>
        <p:spPr>
          <a:xfrm>
            <a:off x="7955280" y="1810512"/>
            <a:ext cx="292608" cy="292608"/>
          </a:xfrm>
          <a:prstGeom prst="rect">
            <a:avLst/>
          </a:prstGeom>
        </p:spPr>
      </p:pic>
      <p:sp>
        <p:nvSpPr>
          <p:cNvPr id="19" name="Text 12"/>
          <p:cNvSpPr txBox="1"/>
          <p:nvPr/>
        </p:nvSpPr>
        <p:spPr>
          <a:xfrm>
            <a:off x="8339328" y="1810512"/>
            <a:ext cx="3200400" cy="292608"/>
          </a:xfrm>
          <a:prstGeom prst="rect">
            <a:avLst/>
          </a:prstGeom>
          <a:noFill/>
          <a:ln/>
        </p:spPr>
        <p:txBody>
          <a:bodyPr wrap="square" lIns="0" tIns="0" rIns="0" bIns="0" rtlCol="0" anchor="ctr"/>
          <a:lstStyle/>
          <a:p>
            <a:pPr indent="0" marL="0">
              <a:buNone/>
            </a:pPr>
            <a:r>
              <a:rPr lang="en-US" sz="1200" b="1" spc="100" kern="0" dirty="0">
                <a:solidFill>
                  <a:srgbClr val="22C3FF"/>
                </a:solidFill>
                <a:latin typeface="Arial" pitchFamily="34" charset="0"/>
                <a:ea typeface="Arial" pitchFamily="34" charset="-122"/>
                <a:cs typeface="Arial" pitchFamily="34" charset="-120"/>
              </a:rPr>
              <a:t>TAKE-HOME</a:t>
            </a:r>
            <a:endParaRPr lang="en-US" sz="1200" dirty="0"/>
          </a:p>
        </p:txBody>
      </p:sp>
      <p:sp>
        <p:nvSpPr>
          <p:cNvPr id="20" name="Text 13"/>
          <p:cNvSpPr txBox="1"/>
          <p:nvPr/>
        </p:nvSpPr>
        <p:spPr>
          <a:xfrm>
            <a:off x="7955280" y="2286000"/>
            <a:ext cx="3611880" cy="2926080"/>
          </a:xfrm>
          <a:prstGeom prst="rect">
            <a:avLst/>
          </a:prstGeom>
          <a:noFill/>
          <a:ln/>
        </p:spPr>
        <p:txBody>
          <a:bodyPr wrap="square" lIns="0" tIns="0" rIns="0" bIns="0" rtlCol="0" anchor="t"/>
          <a:lstStyle/>
          <a:p>
            <a:pPr indent="0" marL="0">
              <a:buNone/>
            </a:pPr>
            <a:r>
              <a:rPr lang="en-US" sz="1400" dirty="0">
                <a:solidFill>
                  <a:srgbClr val="D5DEEC"/>
                </a:solidFill>
                <a:latin typeface="Calibri" pitchFamily="34" charset="0"/>
                <a:ea typeface="Calibri" pitchFamily="34" charset="-122"/>
                <a:cs typeface="Calibri" pitchFamily="34" charset="-120"/>
              </a:rPr>
              <a:t>The largest gain came from predicting a label the task assumed would be given.</a:t>
            </a:r>
            <a:endParaRPr lang="en-US" sz="1400" dirty="0"/>
          </a:p>
          <a:p>
            <a:pPr indent="0" marL="0">
              <a:buNone/>
            </a:pPr>
            <a:r>
              <a:rPr lang="en-US" sz="1400" dirty="0">
                <a:solidFill>
                  <a:srgbClr val="D5DEEC"/>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When a shared task is built around an auxiliary classifier, measure that classifier on the sub-task it is asked to perform before trusting it.</a:t>
            </a:r>
            <a:endParaRPr lang="en-US" sz="1400" dirty="0"/>
          </a:p>
        </p:txBody>
      </p:sp>
      <p:sp>
        <p:nvSpPr>
          <p:cNvPr id="21" name="Shape 14"/>
          <p:cNvSpPr/>
          <p:nvPr/>
        </p:nvSpPr>
        <p:spPr>
          <a:xfrm>
            <a:off x="457200" y="5577840"/>
            <a:ext cx="11274552" cy="502920"/>
          </a:xfrm>
          <a:prstGeom prst="roundRect">
            <a:avLst>
              <a:gd name="adj" fmla="val 14545"/>
            </a:avLst>
          </a:prstGeom>
          <a:solidFill>
            <a:srgbClr val="EAF1FF"/>
          </a:solidFill>
          <a:ln w="9525">
            <a:solidFill>
              <a:srgbClr val="C9DAFD"/>
            </a:solidFill>
            <a:prstDash val="solid"/>
          </a:ln>
        </p:spPr>
      </p:sp>
      <p:pic>
        <p:nvPicPr>
          <p:cNvPr id="22" name="Image 4" descr="/home/aigca/ALEXIS/Posters/build/pptx/icons/github_blue.png">    </p:cNvPr>
          <p:cNvPicPr>
            <a:picLocks noChangeAspect="1"/>
          </p:cNvPicPr>
          <p:nvPr/>
        </p:nvPicPr>
        <p:blipFill>
          <a:blip r:embed="rId5"/>
          <a:stretch>
            <a:fillRect/>
          </a:stretch>
        </p:blipFill>
        <p:spPr>
          <a:xfrm>
            <a:off x="640080" y="5692140"/>
            <a:ext cx="274320" cy="274320"/>
          </a:xfrm>
          <a:prstGeom prst="rect">
            <a:avLst/>
          </a:prstGeom>
        </p:spPr>
      </p:pic>
      <p:sp>
        <p:nvSpPr>
          <p:cNvPr id="23" name="Text 15"/>
          <p:cNvSpPr txBox="1"/>
          <p:nvPr/>
        </p:nvSpPr>
        <p:spPr>
          <a:xfrm>
            <a:off x="1051560" y="5577840"/>
            <a:ext cx="10497312" cy="502920"/>
          </a:xfrm>
          <a:prstGeom prst="rect">
            <a:avLst/>
          </a:prstGeom>
          <a:noFill/>
          <a:ln/>
        </p:spPr>
        <p:txBody>
          <a:bodyPr wrap="square" lIns="0" tIns="0" rIns="0" bIns="0" rtlCol="0" anchor="ctr"/>
          <a:lstStyle/>
          <a:p>
            <a:pPr indent="0" marL="0">
              <a:buNone/>
            </a:pPr>
            <a:r>
              <a:rPr lang="en-US" sz="1300" dirty="0">
                <a:solidFill>
                  <a:srgbClr val="1553CC"/>
                </a:solidFill>
                <a:latin typeface="Calibri" pitchFamily="34" charset="0"/>
                <a:ea typeface="Calibri" pitchFamily="34" charset="-122"/>
                <a:cs typeface="Calibri" pitchFamily="34" charset="-120"/>
              </a:rPr>
              <a:t>github.com/Momen-Ibrahim-Fawzy/ALEXIS-DialectSentEval-Subtask2-SentimentSwap-</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60350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3" name="Text 1"/>
          <p:cNvSpPr txBox="1"/>
          <p:nvPr/>
        </p:nvSpPr>
        <p:spPr>
          <a:xfrm>
            <a:off x="548640" y="2926080"/>
            <a:ext cx="6035040" cy="411480"/>
          </a:xfrm>
          <a:prstGeom prst="rect">
            <a:avLst/>
          </a:prstGeom>
          <a:noFill/>
          <a:ln/>
        </p:spPr>
        <p:txBody>
          <a:bodyPr wrap="square" lIns="0" tIns="0" rIns="0" bIns="0" rtlCol="0" anchor="t"/>
          <a:lstStyle/>
          <a:p>
            <a:pPr algn="ctr" indent="0" marL="0">
              <a:buNone/>
            </a:pPr>
            <a:r>
              <a:rPr lang="en-US" sz="1600" dirty="0">
                <a:solidFill>
                  <a:srgbClr val="22C3FF"/>
                </a:solidFill>
                <a:latin typeface="Arial" pitchFamily="34" charset="0"/>
                <a:ea typeface="Arial" pitchFamily="34" charset="-122"/>
                <a:cs typeface="Arial" pitchFamily="34" charset="-120"/>
              </a:rPr>
              <a:t>Questions welcome</a:t>
            </a:r>
            <a:endParaRPr lang="en-US" sz="1600" dirty="0"/>
          </a:p>
        </p:txBody>
      </p:sp>
      <p:sp>
        <p:nvSpPr>
          <p:cNvPr id="4" name="Shape 2"/>
          <p:cNvSpPr/>
          <p:nvPr/>
        </p:nvSpPr>
        <p:spPr>
          <a:xfrm>
            <a:off x="2011680" y="3611880"/>
            <a:ext cx="3108960" cy="0"/>
          </a:xfrm>
          <a:prstGeom prst="line">
            <a:avLst/>
          </a:prstGeom>
          <a:noFill/>
          <a:ln w="12700">
            <a:solidFill>
              <a:srgbClr val="26406E"/>
            </a:solidFill>
            <a:prstDash val="solid"/>
          </a:ln>
        </p:spPr>
      </p:sp>
      <p:sp>
        <p:nvSpPr>
          <p:cNvPr id="5" name="Text 3"/>
          <p:cNvSpPr txBox="1"/>
          <p:nvPr/>
        </p:nvSpPr>
        <p:spPr>
          <a:xfrm>
            <a:off x="548640" y="3840480"/>
            <a:ext cx="6035040" cy="320040"/>
          </a:xfrm>
          <a:prstGeom prst="rect">
            <a:avLst/>
          </a:prstGeom>
          <a:noFill/>
          <a:ln/>
        </p:spPr>
        <p:txBody>
          <a:bodyPr wrap="square" lIns="0" tIns="0" rIns="0" bIns="0" rtlCol="0" anchor="t"/>
          <a:lstStyle/>
          <a:p>
            <a:pPr algn="ctr" indent="0" marL="0">
              <a:buNone/>
            </a:pPr>
            <a:r>
              <a:rPr lang="en-US" sz="1300" dirty="0">
                <a:solidFill>
                  <a:srgbClr val="B8C4D6"/>
                </a:solidFill>
                <a:latin typeface="Calibri" pitchFamily="34" charset="0"/>
                <a:ea typeface="Calibri" pitchFamily="34" charset="-122"/>
                <a:cs typeface="Calibri" pitchFamily="34" charset="-120"/>
              </a:rPr>
              <a:t>Momen Ibrahim  ·  es-momen.ibrahim2019@alexu.edu.eg</a:t>
            </a:r>
            <a:endParaRPr lang="en-US" sz="1300" dirty="0"/>
          </a:p>
        </p:txBody>
      </p:sp>
      <p:sp>
        <p:nvSpPr>
          <p:cNvPr id="6" name="Text 4"/>
          <p:cNvSpPr txBox="1"/>
          <p:nvPr/>
        </p:nvSpPr>
        <p:spPr>
          <a:xfrm>
            <a:off x="548640" y="4187952"/>
            <a:ext cx="6035040" cy="320040"/>
          </a:xfrm>
          <a:prstGeom prst="rect">
            <a:avLst/>
          </a:prstGeom>
          <a:noFill/>
          <a:ln/>
        </p:spPr>
        <p:txBody>
          <a:bodyPr wrap="square" lIns="0" tIns="0" rIns="0" bIns="0" rtlCol="0" anchor="t"/>
          <a:lstStyle/>
          <a:p>
            <a:pPr algn="ctr" indent="0" marL="0">
              <a:buNone/>
            </a:pPr>
            <a:r>
              <a:rPr lang="en-US" sz="1300" dirty="0">
                <a:solidFill>
                  <a:srgbClr val="9FB3D0"/>
                </a:solidFill>
                <a:latin typeface="Calibri" pitchFamily="34" charset="0"/>
                <a:ea typeface="Calibri" pitchFamily="34" charset="-122"/>
                <a:cs typeface="Calibri" pitchFamily="34" charset="-120"/>
              </a:rPr>
              <a:t>Team ALEXIS  ·  Alexandria University, Egypt</a:t>
            </a:r>
            <a:endParaRPr lang="en-US" sz="1300" dirty="0"/>
          </a:p>
        </p:txBody>
      </p:sp>
      <p:sp>
        <p:nvSpPr>
          <p:cNvPr id="7" name="Shape 5"/>
          <p:cNvSpPr/>
          <p:nvPr/>
        </p:nvSpPr>
        <p:spPr>
          <a:xfrm>
            <a:off x="7086600" y="1143000"/>
            <a:ext cx="4617720" cy="4114800"/>
          </a:xfrm>
          <a:prstGeom prst="roundRect">
            <a:avLst>
              <a:gd name="adj" fmla="val 222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8" name="Image 0" descr="/home/aigca/ALEXIS/Posters/build/pptx/media/swap_qr_paper.png">    </p:cNvPr>
          <p:cNvPicPr>
            <a:picLocks noChangeAspect="1"/>
          </p:cNvPicPr>
          <p:nvPr/>
        </p:nvPicPr>
        <p:blipFill>
          <a:blip r:embed="rId1"/>
          <a:stretch>
            <a:fillRect/>
          </a:stretch>
        </p:blipFill>
        <p:spPr>
          <a:xfrm>
            <a:off x="7315200" y="1417320"/>
            <a:ext cx="1965960" cy="1965960"/>
          </a:xfrm>
          <a:prstGeom prst="rect">
            <a:avLst/>
          </a:prstGeom>
        </p:spPr>
      </p:pic>
      <p:sp>
        <p:nvSpPr>
          <p:cNvPr id="9" name="Text 6"/>
          <p:cNvSpPr txBox="1"/>
          <p:nvPr/>
        </p:nvSpPr>
        <p:spPr>
          <a:xfrm>
            <a:off x="731520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PAPER</a:t>
            </a:r>
            <a:endParaRPr lang="en-US" sz="1300" dirty="0"/>
          </a:p>
        </p:txBody>
      </p:sp>
      <p:sp>
        <p:nvSpPr>
          <p:cNvPr id="10" name="Text 7"/>
          <p:cNvSpPr txBox="1"/>
          <p:nvPr/>
        </p:nvSpPr>
        <p:spPr>
          <a:xfrm>
            <a:off x="731520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ACL Anthology</a:t>
            </a:r>
            <a:endParaRPr lang="en-US" sz="1200" dirty="0"/>
          </a:p>
        </p:txBody>
      </p:sp>
      <p:pic>
        <p:nvPicPr>
          <p:cNvPr id="11" name="Image 1" descr="/home/aigca/ALEXIS/Posters/build/pptx/media/swap_qr_code.png">    </p:cNvPr>
          <p:cNvPicPr>
            <a:picLocks noChangeAspect="1"/>
          </p:cNvPicPr>
          <p:nvPr/>
        </p:nvPicPr>
        <p:blipFill>
          <a:blip r:embed="rId2"/>
          <a:stretch>
            <a:fillRect/>
          </a:stretch>
        </p:blipFill>
        <p:spPr>
          <a:xfrm>
            <a:off x="9509760" y="1417320"/>
            <a:ext cx="1965960" cy="1965960"/>
          </a:xfrm>
          <a:prstGeom prst="rect">
            <a:avLst/>
          </a:prstGeom>
        </p:spPr>
      </p:pic>
      <p:sp>
        <p:nvSpPr>
          <p:cNvPr id="12" name="Text 8"/>
          <p:cNvSpPr txBox="1"/>
          <p:nvPr/>
        </p:nvSpPr>
        <p:spPr>
          <a:xfrm>
            <a:off x="950976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CODE</a:t>
            </a:r>
            <a:endParaRPr lang="en-US" sz="1300" dirty="0"/>
          </a:p>
        </p:txBody>
      </p:sp>
      <p:sp>
        <p:nvSpPr>
          <p:cNvPr id="13" name="Text 9"/>
          <p:cNvSpPr txBox="1"/>
          <p:nvPr/>
        </p:nvSpPr>
        <p:spPr>
          <a:xfrm>
            <a:off x="950976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GitHub</a:t>
            </a:r>
            <a:endParaRPr lang="en-US" sz="1200" dirty="0"/>
          </a:p>
        </p:txBody>
      </p:sp>
      <p:sp>
        <p:nvSpPr>
          <p:cNvPr id="14" name="Shape 10"/>
          <p:cNvSpPr/>
          <p:nvPr/>
        </p:nvSpPr>
        <p:spPr>
          <a:xfrm>
            <a:off x="7315200" y="4206240"/>
            <a:ext cx="4160520" cy="777240"/>
          </a:xfrm>
          <a:prstGeom prst="roundRect">
            <a:avLst>
              <a:gd name="adj" fmla="val 9412"/>
            </a:avLst>
          </a:prstGeom>
          <a:solidFill>
            <a:srgbClr val="0D1117"/>
          </a:solidFill>
          <a:ln w="9525">
            <a:solidFill>
              <a:srgbClr val="0D1117"/>
            </a:solidFill>
            <a:prstDash val="solid"/>
          </a:ln>
        </p:spPr>
      </p:sp>
      <p:sp>
        <p:nvSpPr>
          <p:cNvPr id="15" name="Text 11"/>
          <p:cNvSpPr txBox="1"/>
          <p:nvPr/>
        </p:nvSpPr>
        <p:spPr>
          <a:xfrm>
            <a:off x="7406640" y="4224528"/>
            <a:ext cx="3977640" cy="731520"/>
          </a:xfrm>
          <a:prstGeom prst="rect">
            <a:avLst/>
          </a:prstGeom>
          <a:noFill/>
          <a:ln/>
        </p:spPr>
        <p:txBody>
          <a:bodyPr wrap="square" lIns="0" tIns="0" rIns="0" bIns="0" rtlCol="0" anchor="ctr"/>
          <a:lstStyle/>
          <a:p>
            <a:pPr algn="ctr" indent="0" marL="0">
              <a:buNone/>
            </a:pPr>
            <a:r>
              <a:rPr lang="en-US" sz="1100" dirty="0">
                <a:solidFill>
                  <a:srgbClr val="22C3FF"/>
                </a:solidFill>
                <a:latin typeface="Calibri" pitchFamily="34" charset="0"/>
                <a:ea typeface="Calibri" pitchFamily="34" charset="-122"/>
                <a:cs typeface="Calibri" pitchFamily="34" charset="-120"/>
              </a:rPr>
              <a:t>aclanthology.org/2026.arabicnlp-sharedtasks.188</a:t>
            </a:r>
            <a:endParaRPr lang="en-US" sz="1100" dirty="0"/>
          </a:p>
          <a:p>
            <a:pPr algn="ctr" indent="0" marL="0">
              <a:buNone/>
            </a:pPr>
            <a:r>
              <a:rPr lang="en-US" sz="1100" dirty="0">
                <a:solidFill>
                  <a:srgbClr val="22C3FF"/>
                </a:solidFill>
                <a:latin typeface="Calibri" pitchFamily="34" charset="0"/>
                <a:ea typeface="Calibri" pitchFamily="34" charset="-122"/>
                <a:cs typeface="Calibri" pitchFamily="34" charset="-120"/>
              </a:rPr>
              <a:t>github.com/Momen-Ibrahim-Fawzy/ALEXIS-DialectSentEval-Subtask2-SentimentSwap-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BACKUP</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Key hyperparameters of the deployed system</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371600" y="1600200"/>
          <a:ext cx="9445752" cy="914400"/>
        </p:xfrm>
        <a:graphic>
          <a:graphicData uri="http://schemas.openxmlformats.org/drawingml/2006/table">
            <a:tbl>
              <a:tblPr/>
              <a:tblGrid>
                <a:gridCol w="5120640"/>
                <a:gridCol w="4325112"/>
              </a:tblGrid>
              <a:tr h="393192">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Hyperparameter</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Value</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Primary generator</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mT5-base</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Primary beams (standard / hard direction)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10 / 13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NLLB-200 beams (pooled)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mT5-large beams (pooled)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DPO preference examples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DPO candidates per example</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4 sampled + gold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DPO epochs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Reranking weight α (polarity)</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0.85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Reranking weight 1 − α (chrF)</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0.15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Retrieval similarity threshold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0.90 (cosine)</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theme/theme1.xml><?xml version="1.0" encoding="utf-8"?>
<a:theme xmlns:a="http://schemas.openxmlformats.org/drawingml/2006/main" name="ALEXIS AI MOMENT">
  <a:themeElements>
    <a:clrScheme name="ALEXIS AI MOMENT">
      <a:dk1>
        <a:srgbClr val="0D1117"/>
      </a:dk1>
      <a:lt1>
        <a:srgbClr val="FFFFFF"/>
      </a:lt1>
      <a:dk2>
        <a:srgbClr val="12203A"/>
      </a:dk2>
      <a:lt2>
        <a:srgbClr val="F4F7FB"/>
      </a:lt2>
      <a:accent1>
        <a:srgbClr val="1E6BFF"/>
      </a:accent1>
      <a:accent2>
        <a:srgbClr val="22C3FF"/>
      </a:accent2>
      <a:accent3>
        <a:srgbClr val="E8A020"/>
      </a:accent3>
      <a:accent4>
        <a:srgbClr val="5A6472"/>
      </a:accent4>
      <a:accent5>
        <a:srgbClr val="138A52"/>
      </a:accent5>
      <a:accent6>
        <a:srgbClr val="C8372D"/>
      </a:accent6>
      <a:hlink>
        <a:srgbClr val="1E6BFF"/>
      </a:hlink>
      <a:folHlink>
        <a:srgbClr val="9FB3D0"/>
      </a:folHlink>
    </a:clrScheme>
    <a:fontScheme name="ALEXIS AI MO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ALEXIS, Alexandria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ALEXIS at DialectSentEval Subtask 2</dc:title>
  <dc:subject>ArabicNLP 2026 shared-task system paper</dc:subject>
  <dc:creator>Momen Ibrahim</dc:creator>
  <cp:lastModifiedBy>Momen Ibrahim</cp:lastModifiedBy>
  <cp:revision>1</cp:revision>
  <dcterms:created xsi:type="dcterms:W3CDTF">2026-10-26T11:23:36Z</dcterms:created>
  <dcterms:modified xsi:type="dcterms:W3CDTF">2026-10-26T11:23:36Z</dcterms:modified>
</cp:coreProperties>
</file>